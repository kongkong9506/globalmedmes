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301" r:id="rId3"/>
    <p:sldId id="299" r:id="rId4"/>
    <p:sldId id="302" r:id="rId5"/>
    <p:sldId id="314" r:id="rId6"/>
    <p:sldId id="315" r:id="rId7"/>
    <p:sldId id="305" r:id="rId8"/>
    <p:sldId id="308" r:id="rId9"/>
    <p:sldId id="303" r:id="rId10"/>
    <p:sldId id="298" r:id="rId11"/>
    <p:sldId id="312" r:id="rId12"/>
    <p:sldId id="310" r:id="rId13"/>
    <p:sldId id="311" r:id="rId14"/>
    <p:sldId id="309" r:id="rId15"/>
    <p:sldId id="313" r:id="rId16"/>
    <p:sldId id="304" r:id="rId17"/>
    <p:sldId id="306" r:id="rId18"/>
    <p:sldId id="317" r:id="rId19"/>
    <p:sldId id="31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8" autoAdjust="0"/>
    <p:restoredTop sz="94660"/>
  </p:normalViewPr>
  <p:slideViewPr>
    <p:cSldViewPr snapToGrid="0">
      <p:cViewPr varScale="1">
        <p:scale>
          <a:sx n="76" d="100"/>
          <a:sy n="76" d="100"/>
        </p:scale>
        <p:origin x="2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93F8E-DDDC-4ACD-AC3C-06E8582F5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EE27F4-8C6C-40F0-8A12-DDAD288FF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03C4E-2A78-4009-A038-2914F274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0F0AE5-3940-421D-9932-0049240A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E320A0-817F-4940-8B17-7DD725F9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939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55C34-F65D-4608-A4E5-53E7325C5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BE5FF-B9B9-4DE6-B32F-6E6D049B9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88E7C-894D-4F22-9DC2-737BB440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398196-567E-46AC-AC77-BB694F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89097-F2EB-4BE6-A0C7-066AF742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8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6E64C-B907-42E4-A1C2-CC2252E4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FB70E3-0DB2-4777-8D70-B39100B31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3B88F8-F201-4DA2-8E61-10BA064A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0BE2F6-BBDA-4861-A7BC-1001FAE4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6ED960-D370-4ADA-BCEB-E5D59C58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88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9C763-7DB9-445C-A089-D550A7E9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F2F4F-ED9F-4FBF-ADA6-2B395469D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F3FA75-C701-4568-9263-DA978818A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B87E15-0644-4C68-9EF5-F42F9A42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9B8C16-9636-473A-969A-EBD9B3C6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C8DC9-478C-4A1F-B788-D8DF280F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28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52B1B-D0D0-498B-B9DC-5CBAD006F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57CC0E-65D0-4926-A657-2233658F2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11E43A-3ED4-4C58-8668-C69A904EF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513CAF-A3FF-42E2-A213-4CCA36E38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B4D87A-79C3-4F4C-9100-C13651770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26B0C4-A92C-49AE-866F-4D8C98452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C0972F-097D-420B-8BF4-334F6A78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4DD9E3-B21C-4776-8FFF-942926E4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2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F9EEE-E4FF-4D29-9DE2-05C16622F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9ACFC5-6942-48C7-9174-F0944F149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A88C3F-C9EC-49E0-85EC-084FED4F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B76680-96C5-401E-A7EB-E82FDA82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41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0DC0B0-50EE-4CCE-880D-1E55C3E9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3A7CAC-CFBD-4997-B004-26D387207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C065A7-5868-4025-9E75-FF3685EC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380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2ECE-72B6-4D92-8B50-0D300111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678EA0-2541-4EE8-92BE-C6DDEA272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D3B84C-0F07-45BE-AE80-5463C86BA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330A46-B719-4C21-B999-94D61D2B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749827-482E-4AFB-B5D1-7BA849C7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C26A5-9F9A-46EC-BF00-D465392F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39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00C3C-001C-4563-82D0-0F674604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B167BA-103E-4210-9717-26DDA2609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2E819A-BD7B-4A35-B670-9ADB075A4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8A2EC0-5B7A-4F4A-8416-516BB385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BFDE08-814A-4A5E-A79D-32A585C5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7E8C4B-ACC8-4469-A2D6-5845D56A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6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8FA33-3F25-4EBF-8008-2A219712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FCB685-9FE1-4AC7-94D5-B74C6DEF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FC63F-263C-4D20-ACF2-D0C99487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68DE5-943F-490B-84E0-CC10D78E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A1D4A9-9D85-4E66-8B7F-2556321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461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A75D68-1D44-46CC-9600-B33F544B2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59F904-860F-48C3-98BA-AA4A204D1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77DC5E-EADF-41B7-93AF-8B712A0A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E6104F-8464-45A9-9C46-A8679E04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A09F8-88AD-49C4-A0DC-C89A7A99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322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58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62346C-8E90-4CBC-92B6-AC5D642C3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B61E04-5E84-4A3E-908E-57B0F725C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F0CE7-10B7-4CB1-A87E-486D0ADF9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40B8E-8AC1-44CA-BF57-750169E7F7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7D518-CAD1-4DFD-821E-60D3903F9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1DEDED-561D-4B24-A282-992F4BF8E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804B6-AF7E-4EFF-9116-BA68D811F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47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10693-63E2-C3D2-8C23-05C62FE05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3A918E-B527-1454-403F-E62E3F1BE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8DF20-F277-6076-759D-3E7AA19998EA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로그인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A25EE-2391-5AF0-C412-82F48AAAEE2E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56443E-4174-CDFB-7E31-A87D92139B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94" b="-166"/>
          <a:stretch>
            <a:fillRect/>
          </a:stretch>
        </p:blipFill>
        <p:spPr>
          <a:xfrm>
            <a:off x="416493" y="1584779"/>
            <a:ext cx="8421688" cy="49176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73D89E-7CDD-A837-29D5-626A5C39DC1E}"/>
              </a:ext>
            </a:extLst>
          </p:cNvPr>
          <p:cNvSpPr txBox="1"/>
          <p:nvPr/>
        </p:nvSpPr>
        <p:spPr>
          <a:xfrm>
            <a:off x="5884605" y="3375489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78CD16-E70C-F46E-354F-3A47EE02D963}"/>
              </a:ext>
            </a:extLst>
          </p:cNvPr>
          <p:cNvSpPr/>
          <p:nvPr/>
        </p:nvSpPr>
        <p:spPr>
          <a:xfrm>
            <a:off x="9002111" y="1851363"/>
            <a:ext cx="2582566" cy="41456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로그인 하지 않고 페이지에 들어갈 시 로그인 페이지로 리다이렉트 됨</a:t>
            </a:r>
          </a:p>
          <a:p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1. 로그인 입력창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46E55E-0CAF-3F54-137B-49814A05CFB4}"/>
              </a:ext>
            </a:extLst>
          </p:cNvPr>
          <p:cNvSpPr/>
          <p:nvPr/>
        </p:nvSpPr>
        <p:spPr>
          <a:xfrm>
            <a:off x="6096000" y="3792877"/>
            <a:ext cx="2542853" cy="1455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28714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84E2D-F1F0-6C45-7275-359BC26B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6CBEBF-DAEB-C0FB-F9FE-2329A0A24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12075F-E2E3-1D6B-636F-08BE1A421D30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메뉴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A9A91-1C29-BFA0-A0D5-7CD322A9A14D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62E554-6F5A-9339-8EF1-F56BD62C6D8F}"/>
              </a:ext>
            </a:extLst>
          </p:cNvPr>
          <p:cNvSpPr/>
          <p:nvPr/>
        </p:nvSpPr>
        <p:spPr>
          <a:xfrm>
            <a:off x="9002111" y="1851363"/>
            <a:ext cx="2582566" cy="41456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1 관리자 메뉴</a:t>
            </a:r>
          </a:p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2 사용자 메뉴</a:t>
            </a:r>
          </a:p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3 권한이 없는 페이지</a:t>
            </a:r>
          </a:p>
        </p:txBody>
      </p:sp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9689E2-22FE-6149-87F3-E4B0556B8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82" y="2165167"/>
            <a:ext cx="1270000" cy="3365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674993-BCBF-724F-11F3-B7237D4A0F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" t="2273" r="-788" b="-77727"/>
          <a:stretch>
            <a:fillRect/>
          </a:stretch>
        </p:blipFill>
        <p:spPr>
          <a:xfrm>
            <a:off x="2060113" y="2167831"/>
            <a:ext cx="1206498" cy="36766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7AB4DD-648B-6FD7-A7C4-26C9F3C00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005" y="2163806"/>
            <a:ext cx="5016500" cy="3175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173FEF7-C97B-D390-20E1-70BF78E29FCB}"/>
              </a:ext>
            </a:extLst>
          </p:cNvPr>
          <p:cNvSpPr txBox="1"/>
          <p:nvPr/>
        </p:nvSpPr>
        <p:spPr>
          <a:xfrm>
            <a:off x="387931" y="1714500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ED71AD-033E-EE34-EB2D-D1ACB7496744}"/>
              </a:ext>
            </a:extLst>
          </p:cNvPr>
          <p:cNvSpPr txBox="1"/>
          <p:nvPr/>
        </p:nvSpPr>
        <p:spPr>
          <a:xfrm>
            <a:off x="2063394" y="1717966"/>
            <a:ext cx="526143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A2791A-06D2-FF55-E2D2-B5F29E2249C2}"/>
              </a:ext>
            </a:extLst>
          </p:cNvPr>
          <p:cNvSpPr txBox="1"/>
          <p:nvPr/>
        </p:nvSpPr>
        <p:spPr>
          <a:xfrm>
            <a:off x="3587394" y="1728362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110429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505F-04A3-3C4C-E106-3233E6ACF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D0ACD7-B2A7-F734-4C45-052E2D300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DE2B94-2D7C-B6FF-724F-36D77543C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" t="1422" r="224" b="8983"/>
          <a:stretch>
            <a:fillRect/>
          </a:stretch>
        </p:blipFill>
        <p:spPr>
          <a:xfrm>
            <a:off x="425329" y="1088882"/>
            <a:ext cx="7599198" cy="53935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B6A439-A455-7240-D083-38C63C4E4836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2FAFB5-C76D-95E1-24D9-B8C9B6562678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대시보드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B614B70-5068-FBC4-311D-96E47B972BDF}"/>
              </a:ext>
            </a:extLst>
          </p:cNvPr>
          <p:cNvSpPr/>
          <p:nvPr/>
        </p:nvSpPr>
        <p:spPr>
          <a:xfrm>
            <a:off x="8839437" y="1714374"/>
            <a:ext cx="2582566" cy="41456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sz="1500">
                <a:solidFill>
                  <a:schemeClr val="tx1"/>
                </a:solidFill>
                <a:latin typeface="Malgun Gothic"/>
                <a:ea typeface="Malgun Gothic"/>
              </a:rPr>
              <a:t>1 </a:t>
            </a:r>
            <a:r>
              <a:rPr lang="ko-KR" altLang="en-US" sz="1500">
                <a:solidFill>
                  <a:schemeClr val="tx1"/>
                </a:solidFill>
                <a:latin typeface="Malgun Gothic"/>
                <a:ea typeface="Malgun Gothic"/>
              </a:rPr>
              <a:t>오늘</a:t>
            </a:r>
            <a:r>
              <a:rPr lang="en-US" sz="1500">
                <a:solidFill>
                  <a:schemeClr val="tx1"/>
                </a:solidFill>
                <a:latin typeface="Malgun Gothic"/>
                <a:ea typeface="Malgun Gothic"/>
              </a:rPr>
              <a:t> </a:t>
            </a:r>
            <a:r>
              <a:rPr lang="ko-KR" altLang="en-US" sz="1500">
                <a:solidFill>
                  <a:schemeClr val="tx1"/>
                </a:solidFill>
                <a:latin typeface="Malgun Gothic"/>
                <a:ea typeface="Malgun Gothic"/>
              </a:rPr>
              <a:t>만들어진</a:t>
            </a:r>
            <a:r>
              <a:rPr lang="en-US" altLang="ko-KR" sz="1500">
                <a:solidFill>
                  <a:schemeClr val="tx1"/>
                </a:solidFill>
                <a:latin typeface="Malgun Gothic"/>
                <a:ea typeface="Malgun Gothic"/>
              </a:rPr>
              <a:t> KPI, 설비 상태, 실적, 작업지시를 보여주는 페이지</a:t>
            </a:r>
          </a:p>
        </p:txBody>
      </p:sp>
      <p:sp>
        <p:nvSpPr>
          <p:cNvPr id="26" name="TextBox 32">
            <a:extLst>
              <a:ext uri="{FF2B5EF4-FFF2-40B4-BE49-F238E27FC236}">
                <a16:creationId xmlns:a16="http://schemas.microsoft.com/office/drawing/2014/main" id="{02DA9427-9228-51FE-DDA3-C49A8C48429E}"/>
              </a:ext>
            </a:extLst>
          </p:cNvPr>
          <p:cNvSpPr txBox="1"/>
          <p:nvPr/>
        </p:nvSpPr>
        <p:spPr>
          <a:xfrm>
            <a:off x="504214" y="1626713"/>
            <a:ext cx="426358" cy="666786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6953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F34F-1648-2188-2DC7-005328A72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8E93DB-AE7B-E49E-F739-2891CB86A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pic>
        <p:nvPicPr>
          <p:cNvPr id="33" name="그림 3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AB4842-7AD4-56B2-B1B6-ACE517EBF7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6" t="670" r="451" b="564"/>
          <a:stretch>
            <a:fillRect/>
          </a:stretch>
        </p:blipFill>
        <p:spPr>
          <a:xfrm>
            <a:off x="470203" y="1237934"/>
            <a:ext cx="9045610" cy="5062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C1F92F-51D3-324F-40DB-2C0F3E7830E6}"/>
              </a:ext>
            </a:extLst>
          </p:cNvPr>
          <p:cNvSpPr/>
          <p:nvPr/>
        </p:nvSpPr>
        <p:spPr>
          <a:xfrm>
            <a:off x="9729864" y="2014037"/>
            <a:ext cx="2034611" cy="41542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sz="1500">
                <a:solidFill>
                  <a:schemeClr val="tx1"/>
                </a:solidFill>
                <a:latin typeface="Malgun Gothic"/>
                <a:ea typeface="Malgun Gothic"/>
              </a:rPr>
              <a:t>1. ERP </a:t>
            </a:r>
            <a:r>
              <a:rPr lang="ko-KR" altLang="en-US" sz="1500">
                <a:solidFill>
                  <a:schemeClr val="tx1"/>
                </a:solidFill>
                <a:latin typeface="Malgun Gothic"/>
                <a:ea typeface="Malgun Gothic"/>
              </a:rPr>
              <a:t>탭</a:t>
            </a:r>
          </a:p>
          <a:p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chemeClr val="tx1"/>
                </a:solidFill>
                <a:latin typeface="Malgun Gothic"/>
                <a:ea typeface="Malgun Gothic"/>
              </a:rPr>
              <a:t>2.</a:t>
            </a:r>
            <a:r>
              <a:rPr lang="ko-KR" altLang="en-US" sz="1500">
                <a:solidFill>
                  <a:schemeClr val="tx1"/>
                </a:solidFill>
                <a:latin typeface="Malgun Gothic"/>
                <a:ea typeface="Malgun Gothic"/>
              </a:rPr>
              <a:t> 생성한 계획 목록</a:t>
            </a:r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chemeClr val="tx1"/>
                </a:solidFill>
                <a:latin typeface="Malgun Gothic"/>
                <a:ea typeface="Malgun Gothic"/>
              </a:rPr>
              <a:t>3. 계획 생성, 수정</a:t>
            </a:r>
          </a:p>
          <a:p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chemeClr val="tx1"/>
                </a:solidFill>
                <a:latin typeface="Malgun Gothic"/>
                <a:ea typeface="Malgun Gothic"/>
              </a:rPr>
              <a:t>4. MES에 계획 전송</a:t>
            </a:r>
          </a:p>
          <a:p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endParaRPr lang="en-US" altLang="ko-KR" sz="15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56FC356A-5295-4126-2DF0-C85C5A2AC5DC}"/>
              </a:ext>
            </a:extLst>
          </p:cNvPr>
          <p:cNvSpPr txBox="1"/>
          <p:nvPr/>
        </p:nvSpPr>
        <p:spPr>
          <a:xfrm>
            <a:off x="339354" y="1882715"/>
            <a:ext cx="526143" cy="435953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4" name="TextBox 32">
            <a:extLst>
              <a:ext uri="{FF2B5EF4-FFF2-40B4-BE49-F238E27FC236}">
                <a16:creationId xmlns:a16="http://schemas.microsoft.com/office/drawing/2014/main" id="{E2EC7E74-5543-9BEB-E38B-2A655A1DE50D}"/>
              </a:ext>
            </a:extLst>
          </p:cNvPr>
          <p:cNvSpPr txBox="1"/>
          <p:nvPr/>
        </p:nvSpPr>
        <p:spPr>
          <a:xfrm>
            <a:off x="1383224" y="1350266"/>
            <a:ext cx="426358" cy="666786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D1E031-309A-744D-6878-83B4D48494C2}"/>
              </a:ext>
            </a:extLst>
          </p:cNvPr>
          <p:cNvSpPr txBox="1"/>
          <p:nvPr/>
        </p:nvSpPr>
        <p:spPr>
          <a:xfrm>
            <a:off x="5979273" y="1883297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D7B378-7F6E-71D5-C0AB-D0CD9FED538A}"/>
              </a:ext>
            </a:extLst>
          </p:cNvPr>
          <p:cNvSpPr/>
          <p:nvPr/>
        </p:nvSpPr>
        <p:spPr>
          <a:xfrm>
            <a:off x="466894" y="1711665"/>
            <a:ext cx="1257552" cy="1713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5AA26C-D59E-7E46-C528-AB009C25DE3F}"/>
              </a:ext>
            </a:extLst>
          </p:cNvPr>
          <p:cNvSpPr/>
          <p:nvPr/>
        </p:nvSpPr>
        <p:spPr>
          <a:xfrm>
            <a:off x="6311168" y="2224131"/>
            <a:ext cx="3193436" cy="11408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152C26-EC7E-1A58-BBDB-1CC1DD007DE3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ERP 페이지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D584C1-CA05-DDAD-E720-7E4ABE2CCB36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583" spc="83">
                <a:solidFill>
                  <a:schemeClr val="bg1"/>
                </a:solidFill>
                <a:latin typeface="Pretendard Medium"/>
                <a:ea typeface="맑은 고딕"/>
              </a:rPr>
              <a:t>ERP</a:t>
            </a:r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 상세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5A1970F-0C39-26C3-B710-3B7A9DD6A0A8}"/>
              </a:ext>
            </a:extLst>
          </p:cNvPr>
          <p:cNvSpPr/>
          <p:nvPr/>
        </p:nvSpPr>
        <p:spPr>
          <a:xfrm>
            <a:off x="603999" y="2222264"/>
            <a:ext cx="5264893" cy="2879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381CCAB-68E0-9017-4778-62B6096F85DC}"/>
              </a:ext>
            </a:extLst>
          </p:cNvPr>
          <p:cNvSpPr/>
          <p:nvPr/>
        </p:nvSpPr>
        <p:spPr>
          <a:xfrm>
            <a:off x="8175478" y="3141490"/>
            <a:ext cx="389573" cy="1569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11307F-87D1-8DE3-F907-B3317F111081}"/>
              </a:ext>
            </a:extLst>
          </p:cNvPr>
          <p:cNvSpPr txBox="1"/>
          <p:nvPr/>
        </p:nvSpPr>
        <p:spPr>
          <a:xfrm>
            <a:off x="7907276" y="2741494"/>
            <a:ext cx="411562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147948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FC92D-FCAD-A92B-EE2F-081F778B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93E9CC-ECA1-FEB0-1A73-4804D6910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46CB9E-1262-1CA5-B907-FBDD25F7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93" y="3094769"/>
            <a:ext cx="5730875" cy="3373438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D71F52-9A64-CE38-026C-394C019D02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5" t="-1293" b="51516"/>
          <a:stretch>
            <a:fillRect/>
          </a:stretch>
        </p:blipFill>
        <p:spPr>
          <a:xfrm>
            <a:off x="828700" y="1420357"/>
            <a:ext cx="5520727" cy="177401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094A70-3463-D519-3678-752CEAF0348F}"/>
              </a:ext>
            </a:extLst>
          </p:cNvPr>
          <p:cNvSpPr/>
          <p:nvPr/>
        </p:nvSpPr>
        <p:spPr>
          <a:xfrm>
            <a:off x="7356525" y="1794846"/>
            <a:ext cx="3470006" cy="41542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sz="1500">
                <a:solidFill>
                  <a:schemeClr val="tx1"/>
                </a:solidFill>
                <a:latin typeface="Malgun Gothic"/>
                <a:ea typeface="Malgun Gothic"/>
              </a:rPr>
              <a:t>1. </a:t>
            </a:r>
            <a:r>
              <a:rPr lang="ko-KR" altLang="en-US" sz="1500" dirty="0">
                <a:solidFill>
                  <a:schemeClr val="tx1"/>
                </a:solidFill>
                <a:latin typeface="Malgun Gothic"/>
                <a:ea typeface="Malgun Gothic"/>
              </a:rPr>
              <a:t>수신한</a:t>
            </a:r>
            <a:r>
              <a:rPr lang="en-US" sz="1500" dirty="0">
                <a:solidFill>
                  <a:schemeClr val="tx1"/>
                </a:solidFill>
                <a:latin typeface="Malgun Gothic"/>
                <a:ea typeface="Malgun Gothic"/>
              </a:rPr>
              <a:t> </a:t>
            </a:r>
            <a:r>
              <a:rPr lang="ko-KR" altLang="en-US" sz="1500" dirty="0">
                <a:solidFill>
                  <a:schemeClr val="tx1"/>
                </a:solidFill>
                <a:latin typeface="Malgun Gothic"/>
                <a:ea typeface="Malgun Gothic"/>
              </a:rPr>
              <a:t>생산 계획 목록</a:t>
            </a:r>
            <a:endParaRPr lang="ko-KR" altLang="en-US" sz="1500" dirty="0">
              <a:solidFill>
                <a:schemeClr val="tx1"/>
              </a:solidFill>
            </a:endParaRPr>
          </a:p>
          <a:p>
            <a:endParaRPr lang="ko-KR" altLang="en-US" sz="1500" dirty="0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chemeClr val="tx1"/>
                </a:solidFill>
                <a:latin typeface="Malgun Gothic"/>
                <a:ea typeface="Malgun Gothic"/>
              </a:rPr>
              <a:t>2. 생산 계획 상세보기 창</a:t>
            </a:r>
            <a:endParaRPr lang="ko-KR" altLang="en-US" sz="1500" dirty="0">
              <a:solidFill>
                <a:schemeClr val="tx1"/>
              </a:solidFill>
              <a:latin typeface="Malgun Gothic"/>
              <a:ea typeface="Malgun Gothic"/>
            </a:endParaRPr>
          </a:p>
          <a:p>
            <a:endParaRPr lang="ko-KR" altLang="en-US" sz="1500" dirty="0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ko-KR" altLang="en-US" sz="1500" dirty="0">
                <a:solidFill>
                  <a:schemeClr val="tx1"/>
                </a:solidFill>
                <a:latin typeface="Malgun Gothic"/>
                <a:ea typeface="Malgun Gothic"/>
              </a:rPr>
              <a:t>3. 생산 계획과 연결된 </a:t>
            </a:r>
            <a:r>
              <a:rPr lang="ko-KR" altLang="en-US" sz="1500">
                <a:solidFill>
                  <a:schemeClr val="tx1"/>
                </a:solidFill>
                <a:latin typeface="Malgun Gothic"/>
                <a:ea typeface="Malgun Gothic"/>
              </a:rPr>
              <a:t>작업 지시 목록</a:t>
            </a:r>
            <a:endParaRPr lang="ko-KR" altLang="en-US" sz="1500" dirty="0">
              <a:solidFill>
                <a:schemeClr val="tx1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A29FE15C-165A-62E2-EBB4-4E6A395D6E02}"/>
              </a:ext>
            </a:extLst>
          </p:cNvPr>
          <p:cNvSpPr txBox="1"/>
          <p:nvPr/>
        </p:nvSpPr>
        <p:spPr>
          <a:xfrm>
            <a:off x="613429" y="1755089"/>
            <a:ext cx="526143" cy="435953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4" name="TextBox 32">
            <a:extLst>
              <a:ext uri="{FF2B5EF4-FFF2-40B4-BE49-F238E27FC236}">
                <a16:creationId xmlns:a16="http://schemas.microsoft.com/office/drawing/2014/main" id="{07AA5691-30D4-DA54-A5BF-B5FAFE2111CC}"/>
              </a:ext>
            </a:extLst>
          </p:cNvPr>
          <p:cNvSpPr txBox="1"/>
          <p:nvPr/>
        </p:nvSpPr>
        <p:spPr>
          <a:xfrm>
            <a:off x="613841" y="1215775"/>
            <a:ext cx="426358" cy="666786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DB3510-E5D3-D608-8411-9AC95E3B4EC0}"/>
              </a:ext>
            </a:extLst>
          </p:cNvPr>
          <p:cNvSpPr txBox="1"/>
          <p:nvPr/>
        </p:nvSpPr>
        <p:spPr>
          <a:xfrm>
            <a:off x="756502" y="4598213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4A8D56-F098-A487-E55A-855EBABF6357}"/>
              </a:ext>
            </a:extLst>
          </p:cNvPr>
          <p:cNvSpPr/>
          <p:nvPr/>
        </p:nvSpPr>
        <p:spPr>
          <a:xfrm>
            <a:off x="773088" y="2192560"/>
            <a:ext cx="5629980" cy="3017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E613C2-5031-D6A2-EF80-0259DFA7882D}"/>
              </a:ext>
            </a:extLst>
          </p:cNvPr>
          <p:cNvSpPr/>
          <p:nvPr/>
        </p:nvSpPr>
        <p:spPr>
          <a:xfrm>
            <a:off x="825656" y="3169540"/>
            <a:ext cx="5683645" cy="32007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E9BB06-D2F1-E4E3-6CF7-CCD8533EA72B}"/>
              </a:ext>
            </a:extLst>
          </p:cNvPr>
          <p:cNvSpPr/>
          <p:nvPr/>
        </p:nvSpPr>
        <p:spPr>
          <a:xfrm>
            <a:off x="883057" y="5035050"/>
            <a:ext cx="5495523" cy="12793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B6137D-B6DC-8B22-A7C0-F61FC7A5C36D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생산 계획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C1AFCF-FD00-25CF-1D3A-ACCA56C2FCE2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C635584-938D-2797-AF25-24897D6D1075}"/>
              </a:ext>
            </a:extLst>
          </p:cNvPr>
          <p:cNvCxnSpPr/>
          <p:nvPr/>
        </p:nvCxnSpPr>
        <p:spPr>
          <a:xfrm>
            <a:off x="5641461" y="2494381"/>
            <a:ext cx="2603" cy="6829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78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D0AE-FA06-9780-F90D-711633B2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8023BC-04D4-F63F-6CD7-86E3C8D45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pic>
        <p:nvPicPr>
          <p:cNvPr id="10" name="그림 9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61304D-EB7B-32C1-D066-399685F82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20" y="1877602"/>
            <a:ext cx="9235139" cy="458089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06F918-6EE6-A0A8-3A44-074E067E67AA}"/>
              </a:ext>
            </a:extLst>
          </p:cNvPr>
          <p:cNvSpPr/>
          <p:nvPr/>
        </p:nvSpPr>
        <p:spPr>
          <a:xfrm>
            <a:off x="9729864" y="2014037"/>
            <a:ext cx="2034611" cy="41542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sz="1500">
                <a:solidFill>
                  <a:schemeClr val="tx1"/>
                </a:solidFill>
                <a:latin typeface="Malgun Gothic"/>
                <a:ea typeface="Malgun Gothic"/>
              </a:rPr>
              <a:t>1. 작업지시 필터</a:t>
            </a:r>
          </a:p>
          <a:p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chemeClr val="tx1"/>
                </a:solidFill>
                <a:latin typeface="Malgun Gothic"/>
                <a:ea typeface="Malgun Gothic"/>
              </a:rPr>
              <a:t>2.</a:t>
            </a:r>
            <a:r>
              <a:rPr lang="ko-KR" altLang="en-US" sz="1500">
                <a:solidFill>
                  <a:schemeClr val="tx1"/>
                </a:solidFill>
                <a:latin typeface="Malgun Gothic"/>
                <a:ea typeface="Malgun Gothic"/>
              </a:rPr>
              <a:t> 작업지시 목록</a:t>
            </a:r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chemeClr val="tx1"/>
                </a:solidFill>
                <a:latin typeface="Malgun Gothic"/>
                <a:ea typeface="Malgun Gothic"/>
              </a:rPr>
              <a:t>3 작업지시 정렬</a:t>
            </a:r>
          </a:p>
          <a:p>
            <a:endParaRPr lang="en-US" altLang="ko-KR" sz="1500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chemeClr val="tx1"/>
                </a:solidFill>
                <a:latin typeface="Malgun Gothic"/>
                <a:ea typeface="Malgun Gothic"/>
              </a:rPr>
              <a:t>4. 작업지시 현재 상태</a:t>
            </a:r>
          </a:p>
          <a:p>
            <a:r>
              <a:rPr lang="en-US" altLang="ko-KR" sz="1500">
                <a:solidFill>
                  <a:schemeClr val="tx1"/>
                </a:solidFill>
                <a:highlight>
                  <a:srgbClr val="FFFF00"/>
                </a:highlight>
                <a:latin typeface="Malgun Gothic"/>
                <a:ea typeface="맑은 고딕"/>
              </a:rPr>
              <a:t>P : 계획</a:t>
            </a:r>
          </a:p>
          <a:p>
            <a:r>
              <a:rPr lang="en-US" altLang="ko-KR" sz="1500">
                <a:solidFill>
                  <a:schemeClr val="tx1"/>
                </a:solidFill>
                <a:highlight>
                  <a:srgbClr val="00FFFF"/>
                </a:highlight>
                <a:latin typeface="Malgun Gothic"/>
                <a:ea typeface="맑은 고딕"/>
              </a:rPr>
              <a:t>R : 실행중</a:t>
            </a:r>
          </a:p>
          <a:p>
            <a:r>
              <a:rPr lang="en-US" altLang="ko-KR" sz="1500">
                <a:solidFill>
                  <a:schemeClr val="tx1"/>
                </a:solidFill>
                <a:highlight>
                  <a:srgbClr val="00FF00"/>
                </a:highlight>
                <a:latin typeface="Malgun Gothic"/>
                <a:ea typeface="맑은 고딕"/>
              </a:rPr>
              <a:t>C : 완료</a:t>
            </a:r>
          </a:p>
          <a:p>
            <a:endParaRPr lang="en-US" altLang="ko-KR" sz="1500">
              <a:solidFill>
                <a:schemeClr val="tx1"/>
              </a:solidFill>
              <a:latin typeface="Malgun Gothic"/>
              <a:ea typeface="맑은 고딕"/>
            </a:endParaRPr>
          </a:p>
          <a:p>
            <a:r>
              <a:rPr lang="en-US" altLang="ko-KR" sz="1500">
                <a:solidFill>
                  <a:schemeClr val="tx1"/>
                </a:solidFill>
                <a:latin typeface="Malgun Gothic"/>
                <a:ea typeface="맑은 고딕"/>
              </a:rPr>
              <a:t>5. 작업지시 상태 변경</a:t>
            </a:r>
          </a:p>
          <a:p>
            <a:endParaRPr lang="en-US" altLang="ko-KR" sz="15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82B91AF8-6971-A519-4390-7C30D0604835}"/>
              </a:ext>
            </a:extLst>
          </p:cNvPr>
          <p:cNvSpPr txBox="1"/>
          <p:nvPr/>
        </p:nvSpPr>
        <p:spPr>
          <a:xfrm>
            <a:off x="366813" y="2225959"/>
            <a:ext cx="526143" cy="435953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4" name="TextBox 32">
            <a:extLst>
              <a:ext uri="{FF2B5EF4-FFF2-40B4-BE49-F238E27FC236}">
                <a16:creationId xmlns:a16="http://schemas.microsoft.com/office/drawing/2014/main" id="{0092CAEB-B78E-FEA2-8E11-9BBF182475C2}"/>
              </a:ext>
            </a:extLst>
          </p:cNvPr>
          <p:cNvSpPr txBox="1"/>
          <p:nvPr/>
        </p:nvSpPr>
        <p:spPr>
          <a:xfrm>
            <a:off x="367224" y="1686645"/>
            <a:ext cx="426358" cy="666786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50761C-2DB0-1342-C5B3-A8279417F76D}"/>
              </a:ext>
            </a:extLst>
          </p:cNvPr>
          <p:cNvSpPr txBox="1"/>
          <p:nvPr/>
        </p:nvSpPr>
        <p:spPr>
          <a:xfrm>
            <a:off x="7747409" y="2223608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918AC5-121A-B91E-9729-12A63A1B658E}"/>
              </a:ext>
            </a:extLst>
          </p:cNvPr>
          <p:cNvSpPr txBox="1"/>
          <p:nvPr/>
        </p:nvSpPr>
        <p:spPr>
          <a:xfrm>
            <a:off x="7537374" y="2660114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2C41A9-A955-E974-3000-7087C95F4718}"/>
              </a:ext>
            </a:extLst>
          </p:cNvPr>
          <p:cNvSpPr/>
          <p:nvPr/>
        </p:nvSpPr>
        <p:spPr>
          <a:xfrm>
            <a:off x="789542" y="1883287"/>
            <a:ext cx="6591552" cy="5557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427C01-BB0E-7745-F3F6-5E5B3801097C}"/>
              </a:ext>
            </a:extLst>
          </p:cNvPr>
          <p:cNvSpPr/>
          <p:nvPr/>
        </p:nvSpPr>
        <p:spPr>
          <a:xfrm>
            <a:off x="7886240" y="2957432"/>
            <a:ext cx="284398" cy="34477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0AC3C1-23A4-78CE-21B6-3E292AA593E0}"/>
              </a:ext>
            </a:extLst>
          </p:cNvPr>
          <p:cNvSpPr/>
          <p:nvPr/>
        </p:nvSpPr>
        <p:spPr>
          <a:xfrm>
            <a:off x="8253469" y="3177768"/>
            <a:ext cx="1193288" cy="32732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97F067-9041-685B-A4A8-EBEED361BEFB}"/>
              </a:ext>
            </a:extLst>
          </p:cNvPr>
          <p:cNvSpPr txBox="1"/>
          <p:nvPr/>
        </p:nvSpPr>
        <p:spPr>
          <a:xfrm>
            <a:off x="8134121" y="2774109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1498C97-837B-4D81-5881-DC39FF57AB3C}"/>
              </a:ext>
            </a:extLst>
          </p:cNvPr>
          <p:cNvSpPr/>
          <p:nvPr/>
        </p:nvSpPr>
        <p:spPr>
          <a:xfrm>
            <a:off x="8042314" y="2571840"/>
            <a:ext cx="826058" cy="2161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78243-322B-840B-728C-959B38F8F1E8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작업지시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4FE36C-491A-A14E-CB93-A2A931FBE5DE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</p:spTree>
    <p:extLst>
      <p:ext uri="{BB962C8B-B14F-4D97-AF65-F5344CB8AC3E}">
        <p14:creationId xmlns:p14="http://schemas.microsoft.com/office/powerpoint/2010/main" val="169808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9C16E-E707-9411-AEED-273B1B16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BFA24E-76F4-DAC6-3552-4A8FC753B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4B2E6CD-268E-BF54-9388-6E734FAAEDBB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작업지시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29DCC7-C7A3-3E27-1E5B-D6A6E80E28E9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F1B497-E925-C628-7358-547C97AA5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662" y="1495193"/>
            <a:ext cx="3794125" cy="498475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2714AA4B-E70B-9907-A822-DA8CC2285EA1}"/>
              </a:ext>
            </a:extLst>
          </p:cNvPr>
          <p:cNvGrpSpPr/>
          <p:nvPr/>
        </p:nvGrpSpPr>
        <p:grpSpPr>
          <a:xfrm>
            <a:off x="467633" y="3671434"/>
            <a:ext cx="2895600" cy="2810556"/>
            <a:chOff x="0" y="1725113"/>
            <a:chExt cx="3474720" cy="3372667"/>
          </a:xfrm>
        </p:grpSpPr>
        <p:pic>
          <p:nvPicPr>
            <p:cNvPr id="6" name="그림 5" descr="텍스트, 스크린샷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5872892-4754-BD14-6508-B9A0C5342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495" t="-304" r="-505" b="10638"/>
            <a:stretch>
              <a:fillRect/>
            </a:stretch>
          </p:blipFill>
          <p:spPr>
            <a:xfrm>
              <a:off x="0" y="1725113"/>
              <a:ext cx="3453471" cy="33649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DB2027-1912-5EFC-7B34-4CB730E4FCE8}"/>
                </a:ext>
              </a:extLst>
            </p:cNvPr>
            <p:cNvSpPr/>
            <p:nvPr/>
          </p:nvSpPr>
          <p:spPr>
            <a:xfrm>
              <a:off x="628650" y="1725930"/>
              <a:ext cx="2846070" cy="33718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483B356-EA8C-54C1-FF4D-9C9F3718731E}"/>
              </a:ext>
            </a:extLst>
          </p:cNvPr>
          <p:cNvGrpSpPr/>
          <p:nvPr/>
        </p:nvGrpSpPr>
        <p:grpSpPr>
          <a:xfrm>
            <a:off x="464345" y="1064008"/>
            <a:ext cx="2896026" cy="2603500"/>
            <a:chOff x="96203" y="5101590"/>
            <a:chExt cx="3419475" cy="3124200"/>
          </a:xfrm>
        </p:grpSpPr>
        <p:pic>
          <p:nvPicPr>
            <p:cNvPr id="10" name="그림 9" descr="텍스트, 스크린샷, 디스플레이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AA69F60-91DA-C248-80BB-44A288169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03" y="5101590"/>
              <a:ext cx="3419475" cy="3124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0B2BA86-58D2-35D1-FFF1-5DC96CFE47A9}"/>
                </a:ext>
              </a:extLst>
            </p:cNvPr>
            <p:cNvSpPr/>
            <p:nvPr/>
          </p:nvSpPr>
          <p:spPr>
            <a:xfrm>
              <a:off x="2057400" y="5234940"/>
              <a:ext cx="1154430" cy="3771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2C9A205-A53F-FF8F-55B3-65E1AD17C726}"/>
                </a:ext>
              </a:extLst>
            </p:cNvPr>
            <p:cNvSpPr/>
            <p:nvPr/>
          </p:nvSpPr>
          <p:spPr>
            <a:xfrm>
              <a:off x="2160270" y="6777989"/>
              <a:ext cx="834390" cy="3771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CD5F72-1DA0-8DB6-7FAD-91E70F9C9573}"/>
              </a:ext>
            </a:extLst>
          </p:cNvPr>
          <p:cNvSpPr/>
          <p:nvPr/>
        </p:nvSpPr>
        <p:spPr>
          <a:xfrm>
            <a:off x="3377658" y="1472523"/>
            <a:ext cx="3790950" cy="4991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EB87A52-DDEB-55B1-0B31-5E256B141A02}"/>
              </a:ext>
            </a:extLst>
          </p:cNvPr>
          <p:cNvCxnSpPr/>
          <p:nvPr/>
        </p:nvCxnSpPr>
        <p:spPr>
          <a:xfrm>
            <a:off x="2936488" y="1477536"/>
            <a:ext cx="176560" cy="2193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EC3E54B-7EA5-A0FB-1A40-02E35C874E63}"/>
              </a:ext>
            </a:extLst>
          </p:cNvPr>
          <p:cNvCxnSpPr>
            <a:cxnSpLocks/>
          </p:cNvCxnSpPr>
          <p:nvPr/>
        </p:nvCxnSpPr>
        <p:spPr>
          <a:xfrm flipV="1">
            <a:off x="2890025" y="2639121"/>
            <a:ext cx="48321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8E552E0-FAE0-BDEF-32EE-1CAA6F5D48CD}"/>
              </a:ext>
            </a:extLst>
          </p:cNvPr>
          <p:cNvSpPr/>
          <p:nvPr/>
        </p:nvSpPr>
        <p:spPr>
          <a:xfrm>
            <a:off x="8086514" y="1545821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6.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작업지시 생성 </a:t>
            </a:r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7. 실적 등록 페이지</a:t>
            </a:r>
          </a:p>
          <a:p>
            <a:r>
              <a:rPr lang="en-US" altLang="ko-KR" sz="150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610471-7B09-5411-86C8-3F9FF4BE6097}"/>
              </a:ext>
            </a:extLst>
          </p:cNvPr>
          <p:cNvSpPr txBox="1"/>
          <p:nvPr/>
        </p:nvSpPr>
        <p:spPr>
          <a:xfrm>
            <a:off x="1756339" y="932182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1060D5-6BAC-0317-E4B2-0313AD0DE46F}"/>
              </a:ext>
            </a:extLst>
          </p:cNvPr>
          <p:cNvSpPr txBox="1"/>
          <p:nvPr/>
        </p:nvSpPr>
        <p:spPr>
          <a:xfrm>
            <a:off x="1856748" y="2135260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⑦</a:t>
            </a:r>
          </a:p>
        </p:txBody>
      </p:sp>
    </p:spTree>
    <p:extLst>
      <p:ext uri="{BB962C8B-B14F-4D97-AF65-F5344CB8AC3E}">
        <p14:creationId xmlns:p14="http://schemas.microsoft.com/office/powerpoint/2010/main" val="3257485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53DE1-3748-421C-72AD-F4011E43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DD977-9BF7-FE49-7CB6-61ADC0CBF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CDE649-0989-194B-4561-651F146D40B7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실적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8DF27-9401-FC1C-D43D-80631A5543CA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C077FF-C475-93EA-F552-09051827DD97}"/>
              </a:ext>
            </a:extLst>
          </p:cNvPr>
          <p:cNvSpPr/>
          <p:nvPr/>
        </p:nvSpPr>
        <p:spPr>
          <a:xfrm>
            <a:off x="9002111" y="1851363"/>
            <a:ext cx="2582566" cy="41456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1. 실적 검색 필터</a:t>
            </a:r>
          </a:p>
          <a:p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2. 실적 목록</a:t>
            </a:r>
            <a:endParaRPr lang="en-US" sz="1500"/>
          </a:p>
          <a:p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3. 실적 정렬 방식</a:t>
            </a: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C40B54-87C4-6B82-1AE9-2737A670F3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4" t="1961" r="977" b="-142"/>
          <a:stretch>
            <a:fillRect/>
          </a:stretch>
        </p:blipFill>
        <p:spPr>
          <a:xfrm>
            <a:off x="450169" y="1544977"/>
            <a:ext cx="8441067" cy="4545647"/>
          </a:xfrm>
          <a:prstGeom prst="rect">
            <a:avLst/>
          </a:prstGeom>
        </p:spPr>
      </p:pic>
      <p:sp>
        <p:nvSpPr>
          <p:cNvPr id="5" name="TextBox 34">
            <a:extLst>
              <a:ext uri="{FF2B5EF4-FFF2-40B4-BE49-F238E27FC236}">
                <a16:creationId xmlns:a16="http://schemas.microsoft.com/office/drawing/2014/main" id="{3DA1B8B2-406C-357F-F300-5B42B4310AF2}"/>
              </a:ext>
            </a:extLst>
          </p:cNvPr>
          <p:cNvSpPr txBox="1"/>
          <p:nvPr/>
        </p:nvSpPr>
        <p:spPr>
          <a:xfrm>
            <a:off x="303313" y="1852014"/>
            <a:ext cx="526143" cy="435953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7" name="TextBox 32">
            <a:extLst>
              <a:ext uri="{FF2B5EF4-FFF2-40B4-BE49-F238E27FC236}">
                <a16:creationId xmlns:a16="http://schemas.microsoft.com/office/drawing/2014/main" id="{B473E2E2-67FF-84D6-DFA1-A96F58209C9F}"/>
              </a:ext>
            </a:extLst>
          </p:cNvPr>
          <p:cNvSpPr txBox="1"/>
          <p:nvPr/>
        </p:nvSpPr>
        <p:spPr>
          <a:xfrm>
            <a:off x="353114" y="1246794"/>
            <a:ext cx="426358" cy="666786"/>
          </a:xfrm>
          <a:prstGeom prst="rect">
            <a:avLst/>
          </a:prstGeom>
          <a:noFill/>
        </p:spPr>
        <p:txBody>
          <a:bodyPr rot="0" spcFirstLastPara="0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3102BD-55C7-EFE0-EBA3-E96059AA5731}"/>
              </a:ext>
            </a:extLst>
          </p:cNvPr>
          <p:cNvSpPr/>
          <p:nvPr/>
        </p:nvSpPr>
        <p:spPr>
          <a:xfrm>
            <a:off x="571500" y="1622778"/>
            <a:ext cx="6716888" cy="3033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7628D-B7B0-6A3F-86BE-9497075D2F65}"/>
              </a:ext>
            </a:extLst>
          </p:cNvPr>
          <p:cNvSpPr txBox="1"/>
          <p:nvPr/>
        </p:nvSpPr>
        <p:spPr>
          <a:xfrm>
            <a:off x="7864123" y="1776387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CC4FA7-F52E-C83C-3A4F-A20AFBD3F953}"/>
              </a:ext>
            </a:extLst>
          </p:cNvPr>
          <p:cNvSpPr/>
          <p:nvPr/>
        </p:nvSpPr>
        <p:spPr>
          <a:xfrm>
            <a:off x="8177388" y="2137833"/>
            <a:ext cx="762000" cy="2046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162412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6B758-8E0F-EF57-690D-57D021A1F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A88CB4-AA79-D87F-A442-60DA63432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660B0D-86EB-4722-5370-690D554EE6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32" r="24708" b="45322"/>
          <a:stretch>
            <a:fillRect/>
          </a:stretch>
        </p:blipFill>
        <p:spPr>
          <a:xfrm>
            <a:off x="2732891" y="488391"/>
            <a:ext cx="4262813" cy="2209329"/>
          </a:xfrm>
          <a:prstGeom prst="rect">
            <a:avLst/>
          </a:prstGeom>
        </p:spPr>
      </p:pic>
      <p:pic>
        <p:nvPicPr>
          <p:cNvPr id="6" name="그림 5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CA4EE0-2C8E-6269-3F3A-A02658F57A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" r="4500" b="14599"/>
          <a:stretch>
            <a:fillRect/>
          </a:stretch>
        </p:blipFill>
        <p:spPr>
          <a:xfrm>
            <a:off x="422043" y="2698136"/>
            <a:ext cx="6579683" cy="369131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CBBF2FF-9A61-B0A4-C44C-0FBBA49A04B3}"/>
              </a:ext>
            </a:extLst>
          </p:cNvPr>
          <p:cNvSpPr/>
          <p:nvPr/>
        </p:nvSpPr>
        <p:spPr>
          <a:xfrm>
            <a:off x="7338857" y="1596123"/>
            <a:ext cx="4002081" cy="46279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1. 실시간 KPI 조회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2. 일일 KPI 월 단위 조회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highlight>
                  <a:srgbClr val="FBA80D"/>
                </a:highlight>
                <a:latin typeface="Malgun Gothic"/>
                <a:ea typeface="Malgun Gothic"/>
              </a:rPr>
              <a:t>Productivity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: 시간당 생산성</a:t>
            </a:r>
          </a:p>
          <a:p>
            <a:r>
              <a:rPr lang="ko-KR" altLang="en-US" sz="1500">
                <a:solidFill>
                  <a:srgbClr val="000000"/>
                </a:solidFill>
                <a:highlight>
                  <a:srgbClr val="87CEEA"/>
                </a:highlight>
                <a:latin typeface="Malgun Gothic"/>
                <a:ea typeface="Malgun Gothic"/>
              </a:rPr>
              <a:t>OEE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: 종합설비효율</a:t>
            </a:r>
          </a:p>
          <a:p>
            <a:r>
              <a:rPr lang="ko-KR" altLang="en-US" sz="1500">
                <a:solidFill>
                  <a:schemeClr val="bg1"/>
                </a:solidFill>
                <a:highlight>
                  <a:srgbClr val="047D05"/>
                </a:highlight>
                <a:latin typeface="Malgun Gothic"/>
                <a:ea typeface="Malgun Gothic"/>
              </a:rPr>
              <a:t>Yield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: 수율</a:t>
            </a:r>
          </a:p>
          <a:p>
            <a:r>
              <a:rPr lang="ko-KR" altLang="en-US" sz="1500">
                <a:solidFill>
                  <a:srgbClr val="000000"/>
                </a:solidFill>
                <a:highlight>
                  <a:srgbClr val="FFFE03"/>
                </a:highlight>
                <a:latin typeface="Malgun Gothic"/>
                <a:ea typeface="Malgun Gothic"/>
              </a:rPr>
              <a:t>Defect Rate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: 불량률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37C41B-F11D-7599-3654-937A151F5AD1}"/>
              </a:ext>
            </a:extLst>
          </p:cNvPr>
          <p:cNvSpPr/>
          <p:nvPr/>
        </p:nvSpPr>
        <p:spPr>
          <a:xfrm>
            <a:off x="2816087" y="6153978"/>
            <a:ext cx="173934" cy="1573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2E5308-56AF-3CF0-3369-9350F31BC7CD}"/>
              </a:ext>
            </a:extLst>
          </p:cNvPr>
          <p:cNvSpPr/>
          <p:nvPr/>
        </p:nvSpPr>
        <p:spPr>
          <a:xfrm>
            <a:off x="2729208" y="824384"/>
            <a:ext cx="3209246" cy="4791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0B64C7-BC30-BBA0-C908-801F6205CB54}"/>
              </a:ext>
            </a:extLst>
          </p:cNvPr>
          <p:cNvSpPr/>
          <p:nvPr/>
        </p:nvSpPr>
        <p:spPr>
          <a:xfrm>
            <a:off x="600400" y="3184046"/>
            <a:ext cx="6389944" cy="31932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BABEC7-64E7-9158-C0C7-411482EB22CC}"/>
              </a:ext>
            </a:extLst>
          </p:cNvPr>
          <p:cNvSpPr txBox="1"/>
          <p:nvPr/>
        </p:nvSpPr>
        <p:spPr>
          <a:xfrm>
            <a:off x="2308692" y="562481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sz="1500"/>
          </a:p>
          <a:p>
            <a:pPr algn="ctr"/>
            <a:endParaRPr lang="ko-KR" altLang="en-US" sz="15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FC5623-2F43-BF87-AC8F-E44EF509364B}"/>
              </a:ext>
            </a:extLst>
          </p:cNvPr>
          <p:cNvSpPr txBox="1"/>
          <p:nvPr/>
        </p:nvSpPr>
        <p:spPr>
          <a:xfrm>
            <a:off x="354680" y="2848691"/>
            <a:ext cx="355600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  <a:p>
            <a:pPr algn="ctr"/>
            <a:endParaRPr lang="ko-KR" altLang="en-US" sz="15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D4870E-C513-50E2-A82E-7C214A6FE9C7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KPI</a:t>
            </a:r>
            <a:endParaRPr lang="ko-KR" altLang="en-US" sz="15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457E32-6A00-C9C6-3EFB-E6AB3F08749E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</p:spTree>
    <p:extLst>
      <p:ext uri="{BB962C8B-B14F-4D97-AF65-F5344CB8AC3E}">
        <p14:creationId xmlns:p14="http://schemas.microsoft.com/office/powerpoint/2010/main" val="1979662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ADAB89-0EE2-2D17-11D8-6B39CAF53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pic>
        <p:nvPicPr>
          <p:cNvPr id="4" name="그림 3" descr="텍스트, 전자제품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5D88E-5875-2677-52F7-099072C20C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4" r="1780" b="-129"/>
          <a:stretch>
            <a:fillRect/>
          </a:stretch>
        </p:blipFill>
        <p:spPr>
          <a:xfrm>
            <a:off x="526291" y="1714500"/>
            <a:ext cx="5756772" cy="47774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CE9B64-ADA2-C9CA-CED5-8057330E2B31}"/>
              </a:ext>
            </a:extLst>
          </p:cNvPr>
          <p:cNvSpPr/>
          <p:nvPr/>
        </p:nvSpPr>
        <p:spPr>
          <a:xfrm>
            <a:off x="8904270" y="1703797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1.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작업 일정을 관리하는 </a:t>
            </a:r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 페이지</a:t>
            </a:r>
            <a:endParaRPr 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2 교대 일정 사이드바</a:t>
            </a:r>
          </a:p>
          <a:p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3. 직원 배치 사이드바</a:t>
            </a:r>
          </a:p>
          <a:p>
            <a:pPr>
              <a:lnSpc>
                <a:spcPts val="1687"/>
              </a:lnSpc>
            </a:pPr>
            <a:r>
              <a:rPr lang="en-US" altLang="ko-KR" sz="1500">
                <a:latin typeface="Malgun Gothic"/>
                <a:ea typeface="맑은 고딕"/>
              </a:rPr>
              <a:t>3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47718E-F200-8C73-2897-E05F3BCB1B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09" b="-6114"/>
          <a:stretch>
            <a:fillRect/>
          </a:stretch>
        </p:blipFill>
        <p:spPr>
          <a:xfrm>
            <a:off x="6289175" y="4402906"/>
            <a:ext cx="2490468" cy="20804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DF5F91-C724-C48A-5D3B-185E09301C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02" r="28112" b="3604"/>
          <a:stretch>
            <a:fillRect/>
          </a:stretch>
        </p:blipFill>
        <p:spPr>
          <a:xfrm>
            <a:off x="6280708" y="1705939"/>
            <a:ext cx="2493375" cy="26955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567011-8E1C-EBEC-D04D-33B7429B09B3}"/>
              </a:ext>
            </a:extLst>
          </p:cNvPr>
          <p:cNvSpPr/>
          <p:nvPr/>
        </p:nvSpPr>
        <p:spPr>
          <a:xfrm>
            <a:off x="5371797" y="3525397"/>
            <a:ext cx="560023" cy="238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A4D485-CB18-A90F-87EB-C367187A0A74}"/>
              </a:ext>
            </a:extLst>
          </p:cNvPr>
          <p:cNvSpPr/>
          <p:nvPr/>
        </p:nvSpPr>
        <p:spPr>
          <a:xfrm>
            <a:off x="5379904" y="4177229"/>
            <a:ext cx="486578" cy="2295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476AF0-2E9E-F6CB-B5EE-2B421F298DBF}"/>
              </a:ext>
            </a:extLst>
          </p:cNvPr>
          <p:cNvSpPr/>
          <p:nvPr/>
        </p:nvSpPr>
        <p:spPr>
          <a:xfrm>
            <a:off x="6282447" y="1702340"/>
            <a:ext cx="2488659" cy="2674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66DD483-9B5D-6918-33A2-55BBB8315C6C}"/>
              </a:ext>
            </a:extLst>
          </p:cNvPr>
          <p:cNvSpPr/>
          <p:nvPr/>
        </p:nvSpPr>
        <p:spPr>
          <a:xfrm>
            <a:off x="6290551" y="4409871"/>
            <a:ext cx="2480554" cy="2083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5C1E4C-ACEF-99C7-DA34-69157ADA16AB}"/>
              </a:ext>
            </a:extLst>
          </p:cNvPr>
          <p:cNvSpPr txBox="1"/>
          <p:nvPr/>
        </p:nvSpPr>
        <p:spPr>
          <a:xfrm>
            <a:off x="445105" y="1299634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sz="1500"/>
          </a:p>
          <a:p>
            <a:pPr algn="ctr"/>
            <a:endParaRPr lang="ko-KR" altLang="en-US" sz="15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677DF3-39D2-BBB5-90D8-E394D103809F}"/>
              </a:ext>
            </a:extLst>
          </p:cNvPr>
          <p:cNvSpPr txBox="1"/>
          <p:nvPr/>
        </p:nvSpPr>
        <p:spPr>
          <a:xfrm>
            <a:off x="5266267" y="3105453"/>
            <a:ext cx="355600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  <a:p>
            <a:pPr algn="ctr"/>
            <a:endParaRPr lang="ko-KR" altLang="en-US" sz="15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9BFBC3-565E-8352-04AD-7B3C35866AAF}"/>
              </a:ext>
            </a:extLst>
          </p:cNvPr>
          <p:cNvSpPr txBox="1"/>
          <p:nvPr/>
        </p:nvSpPr>
        <p:spPr>
          <a:xfrm>
            <a:off x="5020734" y="3857776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3D3F1AE-F15E-481F-6B05-29A34B899203}"/>
              </a:ext>
            </a:extLst>
          </p:cNvPr>
          <p:cNvCxnSpPr/>
          <p:nvPr/>
        </p:nvCxnSpPr>
        <p:spPr>
          <a:xfrm flipV="1">
            <a:off x="5934205" y="3637755"/>
            <a:ext cx="351498" cy="886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032770D-DAFA-41CF-6287-D64F28CC611C}"/>
              </a:ext>
            </a:extLst>
          </p:cNvPr>
          <p:cNvCxnSpPr>
            <a:cxnSpLocks/>
          </p:cNvCxnSpPr>
          <p:nvPr/>
        </p:nvCxnSpPr>
        <p:spPr>
          <a:xfrm>
            <a:off x="5862767" y="4295511"/>
            <a:ext cx="434842" cy="31260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55556C0-E388-C507-D16B-219C345AD6A0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교대 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B82DD6-86FB-A499-9CA1-05C222B4060D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</p:spTree>
    <p:extLst>
      <p:ext uri="{BB962C8B-B14F-4D97-AF65-F5344CB8AC3E}">
        <p14:creationId xmlns:p14="http://schemas.microsoft.com/office/powerpoint/2010/main" val="678264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4A6D-A31B-4189-70CE-93A5961F3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5E49FC-8271-DC20-361E-500CBC42E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27CB31-3A5D-3BEF-288C-52A4FEFF1FC0}"/>
              </a:ext>
            </a:extLst>
          </p:cNvPr>
          <p:cNvSpPr/>
          <p:nvPr/>
        </p:nvSpPr>
        <p:spPr>
          <a:xfrm>
            <a:off x="8904270" y="1703797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1 교대 목록 조회 필터</a:t>
            </a:r>
          </a:p>
          <a:p>
            <a:pPr>
              <a:lnSpc>
                <a:spcPts val="1687"/>
              </a:lnSpc>
            </a:pPr>
            <a:endParaRPr lang="en-US" altLang="ko-KR" sz="1500">
              <a:latin typeface="Malgun Gothic"/>
              <a:ea typeface="맑은 고딕"/>
            </a:endParaRPr>
          </a:p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2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직원들의 작업 배치 상황을 볼 수 있는 목록 페이지</a:t>
            </a:r>
            <a:endParaRPr 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pPr>
              <a:lnSpc>
                <a:spcPts val="1687"/>
              </a:lnSpc>
            </a:pPr>
            <a:r>
              <a:rPr lang="en-US" altLang="ko-KR" sz="1500">
                <a:latin typeface="Malgun Gothic"/>
                <a:ea typeface="맑은 고딕"/>
              </a:rPr>
              <a:t>31</a:t>
            </a:r>
            <a:endParaRPr lang="en-US" sz="15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1FE7AE-4B57-6A2C-FECE-561BCCE36AA1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교대 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F27585-DA63-DF5C-4B28-43F1A9E8604B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시스템 상세</a:t>
            </a: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33239B-9E6D-D600-2EE3-16B6C0DC7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88" y="2349834"/>
            <a:ext cx="8457950" cy="307273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EE3976-1EDB-3DCC-FC29-9A450BFFA85A}"/>
              </a:ext>
            </a:extLst>
          </p:cNvPr>
          <p:cNvSpPr/>
          <p:nvPr/>
        </p:nvSpPr>
        <p:spPr>
          <a:xfrm>
            <a:off x="778408" y="3201498"/>
            <a:ext cx="4402108" cy="2226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0A978F-BCB1-B5FA-BAD3-032FC9BEB477}"/>
              </a:ext>
            </a:extLst>
          </p:cNvPr>
          <p:cNvSpPr txBox="1"/>
          <p:nvPr/>
        </p:nvSpPr>
        <p:spPr>
          <a:xfrm>
            <a:off x="445104" y="2871760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sz="1500"/>
          </a:p>
          <a:p>
            <a:pPr algn="ctr"/>
            <a:endParaRPr lang="ko-KR" alt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AF34A5-C79A-A0D4-925C-8137FF99846E}"/>
              </a:ext>
            </a:extLst>
          </p:cNvPr>
          <p:cNvSpPr txBox="1"/>
          <p:nvPr/>
        </p:nvSpPr>
        <p:spPr>
          <a:xfrm>
            <a:off x="368969" y="3580923"/>
            <a:ext cx="526143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4098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035DA-43F8-8837-40E6-824A44C8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A03FC5-26AE-CC0D-269A-CD84027A9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2A1347-134D-FDBB-C1E6-7CA35BC1D2EA}"/>
              </a:ext>
            </a:extLst>
          </p:cNvPr>
          <p:cNvSpPr/>
          <p:nvPr/>
        </p:nvSpPr>
        <p:spPr>
          <a:xfrm>
            <a:off x="8904270" y="1703797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1. 새로운 설비 상태 등록</a:t>
            </a: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-같은 상태 중복 등록</a:t>
            </a:r>
          </a:p>
          <a:p>
            <a:r>
              <a:rPr lang="ko-KR" altLang="en-US" sz="1500">
                <a:solidFill>
                  <a:srgbClr val="000000"/>
                </a:solidFill>
                <a:highlight>
                  <a:srgbClr val="00FF00"/>
                </a:highlight>
                <a:latin typeface="Malgun Gothic"/>
                <a:ea typeface="Malgun Gothic"/>
              </a:rPr>
              <a:t>RUN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 : 불가능</a:t>
            </a:r>
          </a:p>
          <a:p>
            <a:r>
              <a:rPr lang="ko-KR" altLang="en-US" sz="1500">
                <a:solidFill>
                  <a:srgbClr val="000000"/>
                </a:solidFill>
                <a:highlight>
                  <a:srgbClr val="FEF9C3"/>
                </a:highlight>
                <a:latin typeface="Malgun Gothic"/>
                <a:ea typeface="Malgun Gothic"/>
              </a:rPr>
              <a:t>IDLE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lang="ko-KR" altLang="en-US" sz="1500">
                <a:solidFill>
                  <a:srgbClr val="000000"/>
                </a:solidFill>
                <a:highlight>
                  <a:srgbClr val="FEE2E2"/>
                </a:highlight>
                <a:latin typeface="Malgun Gothic"/>
                <a:ea typeface="Malgun Gothic"/>
              </a:rPr>
              <a:t>DOWN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 : 종료 시간 갱신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2. 설비 상태 조회 필터</a:t>
            </a:r>
            <a:endParaRPr lang="ko-KR" altLang="en-US" sz="1500"/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3. 설비 상태 목록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4. 상태 종류</a:t>
            </a:r>
          </a:p>
          <a:p>
            <a:r>
              <a:rPr lang="en-US" altLang="ko-KR" sz="1500">
                <a:solidFill>
                  <a:srgbClr val="000000"/>
                </a:solidFill>
                <a:highlight>
                  <a:srgbClr val="00FF00"/>
                </a:highlight>
                <a:latin typeface="Malgun Gothic"/>
                <a:ea typeface="Malgun Gothic"/>
              </a:rPr>
              <a:t>RUN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 : 가동중</a:t>
            </a:r>
            <a:endParaRPr lang="ko-KR" altLang="en-US" sz="1500"/>
          </a:p>
          <a:p>
            <a:r>
              <a:rPr lang="en-US" altLang="ko-KR" sz="1500">
                <a:solidFill>
                  <a:srgbClr val="000000"/>
                </a:solidFill>
                <a:highlight>
                  <a:srgbClr val="FEF9C3"/>
                </a:highlight>
                <a:latin typeface="Malgun Gothic"/>
                <a:ea typeface="Malgun Gothic"/>
              </a:rPr>
              <a:t>IDLE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: 정지</a:t>
            </a:r>
            <a:endParaRPr lang="ko-KR" altLang="en-US" sz="1500"/>
          </a:p>
          <a:p>
            <a:r>
              <a:rPr lang="en-US" altLang="ko-KR" sz="1500">
                <a:solidFill>
                  <a:srgbClr val="000000"/>
                </a:solidFill>
                <a:highlight>
                  <a:srgbClr val="FEE2E2"/>
                </a:highlight>
                <a:latin typeface="Malgun Gothic"/>
                <a:ea typeface="Malgun Gothic"/>
              </a:rPr>
              <a:t>DOWN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 : 고장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64D615-F55C-81A6-4821-EB62DBA69C70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설비상태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72FE2E-AE3C-D2FE-6852-A1CE60FC9E14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설비 상세</a:t>
            </a:r>
          </a:p>
        </p:txBody>
      </p:sp>
      <p:pic>
        <p:nvPicPr>
          <p:cNvPr id="3" name="그림 2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98B4FC-9E38-AB71-2060-4BE6672D38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9" r="589" b="2602"/>
          <a:stretch>
            <a:fillRect/>
          </a:stretch>
        </p:blipFill>
        <p:spPr>
          <a:xfrm>
            <a:off x="488177" y="1248560"/>
            <a:ext cx="8334841" cy="49599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66F1F6-451E-4130-84C7-5BB462CD76A0}"/>
              </a:ext>
            </a:extLst>
          </p:cNvPr>
          <p:cNvSpPr txBox="1"/>
          <p:nvPr/>
        </p:nvSpPr>
        <p:spPr>
          <a:xfrm>
            <a:off x="390072" y="2377109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6AC72-6766-A7DE-E59A-C2BE6C72075B}"/>
              </a:ext>
            </a:extLst>
          </p:cNvPr>
          <p:cNvSpPr txBox="1"/>
          <p:nvPr/>
        </p:nvSpPr>
        <p:spPr>
          <a:xfrm>
            <a:off x="389283" y="3048394"/>
            <a:ext cx="526143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F0457-30E9-DF77-DC19-E432038D8B89}"/>
              </a:ext>
            </a:extLst>
          </p:cNvPr>
          <p:cNvSpPr txBox="1"/>
          <p:nvPr/>
        </p:nvSpPr>
        <p:spPr>
          <a:xfrm>
            <a:off x="397565" y="3670773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491E6-D76D-BBD8-62DE-34D6326C02C6}"/>
              </a:ext>
            </a:extLst>
          </p:cNvPr>
          <p:cNvSpPr txBox="1"/>
          <p:nvPr/>
        </p:nvSpPr>
        <p:spPr>
          <a:xfrm>
            <a:off x="1482587" y="3983935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E5AED4-1D35-0E32-C235-D064F37FAB90}"/>
              </a:ext>
            </a:extLst>
          </p:cNvPr>
          <p:cNvSpPr/>
          <p:nvPr/>
        </p:nvSpPr>
        <p:spPr>
          <a:xfrm>
            <a:off x="6518413" y="1987826"/>
            <a:ext cx="207065" cy="240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E27A20-B039-7665-140D-3628D4347123}"/>
              </a:ext>
            </a:extLst>
          </p:cNvPr>
          <p:cNvSpPr/>
          <p:nvPr/>
        </p:nvSpPr>
        <p:spPr>
          <a:xfrm>
            <a:off x="816186" y="2644946"/>
            <a:ext cx="884143" cy="287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43966E-06B4-A85A-6E49-EBEE9CCFCF34}"/>
              </a:ext>
            </a:extLst>
          </p:cNvPr>
          <p:cNvSpPr/>
          <p:nvPr/>
        </p:nvSpPr>
        <p:spPr>
          <a:xfrm>
            <a:off x="791338" y="3042511"/>
            <a:ext cx="3733360" cy="5608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785BA7-AC85-4FE4-4C0A-4C66A87360AE}"/>
              </a:ext>
            </a:extLst>
          </p:cNvPr>
          <p:cNvSpPr/>
          <p:nvPr/>
        </p:nvSpPr>
        <p:spPr>
          <a:xfrm>
            <a:off x="1718990" y="4359445"/>
            <a:ext cx="552838" cy="1761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A41CB7-D2DE-C3B9-C4A5-544507A6EEA7}"/>
              </a:ext>
            </a:extLst>
          </p:cNvPr>
          <p:cNvSpPr/>
          <p:nvPr/>
        </p:nvSpPr>
        <p:spPr>
          <a:xfrm>
            <a:off x="6125338" y="1270032"/>
            <a:ext cx="2714599" cy="49340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FDCFB6E-A637-C3CA-571D-2FE7E84D53C7}"/>
              </a:ext>
            </a:extLst>
          </p:cNvPr>
          <p:cNvCxnSpPr/>
          <p:nvPr/>
        </p:nvCxnSpPr>
        <p:spPr>
          <a:xfrm flipV="1">
            <a:off x="1702381" y="2809218"/>
            <a:ext cx="4433819" cy="10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779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0F68-CC64-BB02-2925-43880B4B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5AAE8C-F28B-15E3-DBC9-CBAB00A6E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AB7572-9F5B-9B4F-4D6A-32BA05DDD7A9}"/>
              </a:ext>
            </a:extLst>
          </p:cNvPr>
          <p:cNvSpPr/>
          <p:nvPr/>
        </p:nvSpPr>
        <p:spPr>
          <a:xfrm>
            <a:off x="8904270" y="1703797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1 설비보전 페이지 전환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2 각 페이지의 조회 필터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3 공통 페이지</a:t>
            </a: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(1 페이지에 10개 항목)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D66C64-960D-CFCD-8D5F-405696C2C48B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설비보전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6288C7-BF3F-AAA7-5813-37780E3C9696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설비 상세</a:t>
            </a: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05CC77-D0A7-B245-0747-8A5586AA27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3" r="33" b="15632"/>
          <a:stretch>
            <a:fillRect/>
          </a:stretch>
        </p:blipFill>
        <p:spPr>
          <a:xfrm>
            <a:off x="605136" y="1023795"/>
            <a:ext cx="8001008" cy="20312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001F86-A699-A5AA-2FDB-F4E3B1F70C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007" b="17622"/>
          <a:stretch>
            <a:fillRect/>
          </a:stretch>
        </p:blipFill>
        <p:spPr>
          <a:xfrm>
            <a:off x="605136" y="3028186"/>
            <a:ext cx="8001008" cy="15792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E83553-DD64-E5C2-CDF6-161E8BCBC0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821" b="7801"/>
          <a:stretch>
            <a:fillRect/>
          </a:stretch>
        </p:blipFill>
        <p:spPr>
          <a:xfrm>
            <a:off x="605136" y="4601882"/>
            <a:ext cx="8001016" cy="17687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33ED3-D85D-A4FD-9BB5-51BCEF2648E1}"/>
              </a:ext>
            </a:extLst>
          </p:cNvPr>
          <p:cNvSpPr txBox="1"/>
          <p:nvPr/>
        </p:nvSpPr>
        <p:spPr>
          <a:xfrm>
            <a:off x="285836" y="686519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2C2523-3CEB-DAAD-E34E-592F0BF3B724}"/>
              </a:ext>
            </a:extLst>
          </p:cNvPr>
          <p:cNvSpPr txBox="1"/>
          <p:nvPr/>
        </p:nvSpPr>
        <p:spPr>
          <a:xfrm>
            <a:off x="445699" y="1350616"/>
            <a:ext cx="526143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1A93D3-B51B-5C3A-6842-873FA1249DEF}"/>
              </a:ext>
            </a:extLst>
          </p:cNvPr>
          <p:cNvSpPr txBox="1"/>
          <p:nvPr/>
        </p:nvSpPr>
        <p:spPr>
          <a:xfrm>
            <a:off x="395378" y="5858945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1A5694-C780-2C55-39E1-9E07B67F5ECE}"/>
              </a:ext>
            </a:extLst>
          </p:cNvPr>
          <p:cNvSpPr/>
          <p:nvPr/>
        </p:nvSpPr>
        <p:spPr>
          <a:xfrm>
            <a:off x="601358" y="1025667"/>
            <a:ext cx="1929662" cy="277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0C4DA3A-9478-C71F-5B54-2A6A04C05027}"/>
              </a:ext>
            </a:extLst>
          </p:cNvPr>
          <p:cNvSpPr/>
          <p:nvPr/>
        </p:nvSpPr>
        <p:spPr>
          <a:xfrm>
            <a:off x="766697" y="1701402"/>
            <a:ext cx="2339417" cy="241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42629D-FF26-E0D4-09E3-C60654F56F74}"/>
              </a:ext>
            </a:extLst>
          </p:cNvPr>
          <p:cNvSpPr/>
          <p:nvPr/>
        </p:nvSpPr>
        <p:spPr>
          <a:xfrm>
            <a:off x="817019" y="3311666"/>
            <a:ext cx="3194869" cy="241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C113A9-BDBE-D738-12C2-428D67824E49}"/>
              </a:ext>
            </a:extLst>
          </p:cNvPr>
          <p:cNvSpPr/>
          <p:nvPr/>
        </p:nvSpPr>
        <p:spPr>
          <a:xfrm>
            <a:off x="766697" y="4806911"/>
            <a:ext cx="2476002" cy="241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6E6FB97-2E37-075A-F53B-D69A2B901D9A}"/>
              </a:ext>
            </a:extLst>
          </p:cNvPr>
          <p:cNvSpPr/>
          <p:nvPr/>
        </p:nvSpPr>
        <p:spPr>
          <a:xfrm>
            <a:off x="817019" y="6179948"/>
            <a:ext cx="966379" cy="1556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036B985-BA8B-4FDF-8670-BD4AB4F063F8}"/>
              </a:ext>
            </a:extLst>
          </p:cNvPr>
          <p:cNvCxnSpPr>
            <a:cxnSpLocks/>
          </p:cNvCxnSpPr>
          <p:nvPr/>
        </p:nvCxnSpPr>
        <p:spPr>
          <a:xfrm>
            <a:off x="643786" y="1714775"/>
            <a:ext cx="161673" cy="172158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94FB9B1-1FEA-F8D8-647A-C526F559DF75}"/>
              </a:ext>
            </a:extLst>
          </p:cNvPr>
          <p:cNvCxnSpPr>
            <a:cxnSpLocks/>
          </p:cNvCxnSpPr>
          <p:nvPr/>
        </p:nvCxnSpPr>
        <p:spPr>
          <a:xfrm>
            <a:off x="634201" y="1712380"/>
            <a:ext cx="132918" cy="3209641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131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01F1-CEF0-DAF4-52E2-15F3B388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5071CC-5FB4-012D-A52D-B06B6A9DD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27FB7B-439F-C57B-74D7-5D7984E2AD04}"/>
              </a:ext>
            </a:extLst>
          </p:cNvPr>
          <p:cNvSpPr/>
          <p:nvPr/>
        </p:nvSpPr>
        <p:spPr>
          <a:xfrm>
            <a:off x="8904270" y="1703797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1 공정 목록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2 상세 보기 사이드바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3 해당 공정을 쓰고있는 설비 목록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4 해당 공정을 위해 필요한 자격증 또는 교육 이수증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DDCEF1-B06A-A798-0F39-9DD9DDAA550A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공정 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0B4A3D-D987-08EF-6B0F-038E9FF7DDE2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공정 상세</a:t>
            </a:r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1A6F87-0C79-04EC-191B-EF6548640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41" y="1720539"/>
            <a:ext cx="5664614" cy="4236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FBF9CF-E899-C78D-7929-8AAC5D671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518" y="1987136"/>
            <a:ext cx="2806769" cy="36871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8F4B9C-5426-2C1D-0BE5-12162A0C25BA}"/>
              </a:ext>
            </a:extLst>
          </p:cNvPr>
          <p:cNvSpPr txBox="1"/>
          <p:nvPr/>
        </p:nvSpPr>
        <p:spPr>
          <a:xfrm>
            <a:off x="430215" y="2539383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4375A6-6D82-DC67-B0F4-461E9CB4FCB3}"/>
              </a:ext>
            </a:extLst>
          </p:cNvPr>
          <p:cNvSpPr txBox="1"/>
          <p:nvPr/>
        </p:nvSpPr>
        <p:spPr>
          <a:xfrm>
            <a:off x="4472267" y="2986911"/>
            <a:ext cx="526143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3584D7-58A2-5ECE-2458-CF3EF605B3BA}"/>
              </a:ext>
            </a:extLst>
          </p:cNvPr>
          <p:cNvSpPr/>
          <p:nvPr/>
        </p:nvSpPr>
        <p:spPr>
          <a:xfrm>
            <a:off x="4788347" y="3279583"/>
            <a:ext cx="590147" cy="2457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F0F01E-5044-192E-7E0D-C95F40C854A5}"/>
              </a:ext>
            </a:extLst>
          </p:cNvPr>
          <p:cNvSpPr/>
          <p:nvPr/>
        </p:nvSpPr>
        <p:spPr>
          <a:xfrm>
            <a:off x="6092677" y="1990161"/>
            <a:ext cx="2820679" cy="3682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C306C-1CC7-A9AB-A116-C65030AF08DA}"/>
              </a:ext>
            </a:extLst>
          </p:cNvPr>
          <p:cNvSpPr txBox="1"/>
          <p:nvPr/>
        </p:nvSpPr>
        <p:spPr>
          <a:xfrm>
            <a:off x="6007769" y="3693790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5777B-8000-5D25-715A-637EA1AA8D88}"/>
              </a:ext>
            </a:extLst>
          </p:cNvPr>
          <p:cNvSpPr txBox="1"/>
          <p:nvPr/>
        </p:nvSpPr>
        <p:spPr>
          <a:xfrm>
            <a:off x="5999748" y="4714374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CE4CF1B-0A4A-997E-504A-956989E0C10C}"/>
              </a:ext>
            </a:extLst>
          </p:cNvPr>
          <p:cNvSpPr/>
          <p:nvPr/>
        </p:nvSpPr>
        <p:spPr>
          <a:xfrm>
            <a:off x="6336410" y="4001477"/>
            <a:ext cx="1472462" cy="654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820DE3-DF80-C6DF-27B9-EBACF91BFFF1}"/>
              </a:ext>
            </a:extLst>
          </p:cNvPr>
          <p:cNvSpPr/>
          <p:nvPr/>
        </p:nvSpPr>
        <p:spPr>
          <a:xfrm>
            <a:off x="6336410" y="5020151"/>
            <a:ext cx="734525" cy="3660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93203E0-D52B-431D-AF20-486C27BCB695}"/>
              </a:ext>
            </a:extLst>
          </p:cNvPr>
          <p:cNvCxnSpPr>
            <a:cxnSpLocks/>
          </p:cNvCxnSpPr>
          <p:nvPr/>
        </p:nvCxnSpPr>
        <p:spPr>
          <a:xfrm>
            <a:off x="5386023" y="3424942"/>
            <a:ext cx="711719" cy="4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365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2346-7D0A-A188-275D-210FAD3B0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4685F8-F123-0A67-46EB-06AC3F9CD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6D1630-25F7-1CE4-7F61-1107ED9D74DB}"/>
              </a:ext>
            </a:extLst>
          </p:cNvPr>
          <p:cNvSpPr/>
          <p:nvPr/>
        </p:nvSpPr>
        <p:spPr>
          <a:xfrm>
            <a:off x="7789343" y="1711818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5. 새 공정 생성 사이드바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6. 기존 공정 수정 사이드바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7. 해당 공정에 필요한 자격증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8. 자격증, 교육 검색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C039C1-D5C8-0A6D-D401-C5E1444E14A9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공정 관리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74B443-0478-3E38-5DCA-7611B2D35057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공정 상세</a:t>
            </a:r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C8D130-15A2-91A5-AD0C-B06E70C08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42" t="19058" r="-328" b="54720"/>
          <a:stretch>
            <a:fillRect/>
          </a:stretch>
        </p:blipFill>
        <p:spPr>
          <a:xfrm>
            <a:off x="419524" y="1378680"/>
            <a:ext cx="1352983" cy="11110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 descr="텍스트, 스크린샷, 번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E00966-B90A-6B59-A621-1D5856D63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424" y="2513920"/>
            <a:ext cx="2992438" cy="3952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10840A-769D-A468-E028-9225845B4B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512" r="473" b="116"/>
          <a:stretch>
            <a:fillRect/>
          </a:stretch>
        </p:blipFill>
        <p:spPr>
          <a:xfrm>
            <a:off x="422388" y="2513920"/>
            <a:ext cx="2859782" cy="3951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AA715A-B3D1-071A-C85D-4AE9DF061F03}"/>
              </a:ext>
            </a:extLst>
          </p:cNvPr>
          <p:cNvSpPr/>
          <p:nvPr/>
        </p:nvSpPr>
        <p:spPr>
          <a:xfrm>
            <a:off x="3277429" y="2513381"/>
            <a:ext cx="2991018" cy="3951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619CEF-B18B-A977-B9D5-CA276454C7BF}"/>
              </a:ext>
            </a:extLst>
          </p:cNvPr>
          <p:cNvSpPr/>
          <p:nvPr/>
        </p:nvSpPr>
        <p:spPr>
          <a:xfrm>
            <a:off x="412912" y="2526902"/>
            <a:ext cx="2874630" cy="39521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4BA2E4-D90C-BD06-77B3-132EC26DB641}"/>
              </a:ext>
            </a:extLst>
          </p:cNvPr>
          <p:cNvSpPr/>
          <p:nvPr/>
        </p:nvSpPr>
        <p:spPr>
          <a:xfrm>
            <a:off x="952698" y="1445807"/>
            <a:ext cx="705019" cy="2234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4A98E9-D1C9-1789-859C-C009857CC756}"/>
              </a:ext>
            </a:extLst>
          </p:cNvPr>
          <p:cNvSpPr/>
          <p:nvPr/>
        </p:nvSpPr>
        <p:spPr>
          <a:xfrm>
            <a:off x="1199680" y="2121542"/>
            <a:ext cx="370917" cy="2691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66AC48C-37AB-1C9F-5E88-AB6EBF815862}"/>
              </a:ext>
            </a:extLst>
          </p:cNvPr>
          <p:cNvCxnSpPr/>
          <p:nvPr/>
        </p:nvCxnSpPr>
        <p:spPr>
          <a:xfrm flipH="1">
            <a:off x="1144917" y="1700684"/>
            <a:ext cx="10177" cy="806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53625B3-FF9F-0CCC-F3A5-ED9E1CBEA455}"/>
              </a:ext>
            </a:extLst>
          </p:cNvPr>
          <p:cNvCxnSpPr>
            <a:cxnSpLocks/>
          </p:cNvCxnSpPr>
          <p:nvPr/>
        </p:nvCxnSpPr>
        <p:spPr>
          <a:xfrm>
            <a:off x="1572187" y="2230072"/>
            <a:ext cx="2203635" cy="2531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30C082B-8398-0D9F-1F96-8B4E4A705E33}"/>
              </a:ext>
            </a:extLst>
          </p:cNvPr>
          <p:cNvSpPr txBox="1"/>
          <p:nvPr/>
        </p:nvSpPr>
        <p:spPr>
          <a:xfrm>
            <a:off x="601579" y="1116264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D0F7CA-2FE6-AAE7-0971-2F9E0EB437F9}"/>
              </a:ext>
            </a:extLst>
          </p:cNvPr>
          <p:cNvSpPr txBox="1"/>
          <p:nvPr/>
        </p:nvSpPr>
        <p:spPr>
          <a:xfrm>
            <a:off x="777660" y="1753745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24D1CF-429B-4E9A-A293-386B860A77CD}"/>
              </a:ext>
            </a:extLst>
          </p:cNvPr>
          <p:cNvSpPr txBox="1"/>
          <p:nvPr/>
        </p:nvSpPr>
        <p:spPr>
          <a:xfrm>
            <a:off x="1202776" y="4398305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⑦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4A5A7C0-6CE1-3A32-77C4-54900AC8F566}"/>
              </a:ext>
            </a:extLst>
          </p:cNvPr>
          <p:cNvSpPr/>
          <p:nvPr/>
        </p:nvSpPr>
        <p:spPr>
          <a:xfrm>
            <a:off x="533227" y="4836963"/>
            <a:ext cx="2666083" cy="3185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63B132A-1317-F832-8E73-2053EBDED440}"/>
              </a:ext>
            </a:extLst>
          </p:cNvPr>
          <p:cNvSpPr/>
          <p:nvPr/>
        </p:nvSpPr>
        <p:spPr>
          <a:xfrm>
            <a:off x="533226" y="5430522"/>
            <a:ext cx="2666083" cy="5351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7225F3-98E4-33E9-F457-86F4D9217F44}"/>
              </a:ext>
            </a:extLst>
          </p:cNvPr>
          <p:cNvSpPr txBox="1"/>
          <p:nvPr/>
        </p:nvSpPr>
        <p:spPr>
          <a:xfrm>
            <a:off x="1146629" y="5067205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⑧</a:t>
            </a:r>
          </a:p>
        </p:txBody>
      </p:sp>
    </p:spTree>
    <p:extLst>
      <p:ext uri="{BB962C8B-B14F-4D97-AF65-F5344CB8AC3E}">
        <p14:creationId xmlns:p14="http://schemas.microsoft.com/office/powerpoint/2010/main" val="1035266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A7D46B-546B-5D6D-3E79-142A3914C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73D19-4832-3180-225C-DA1AD8DF3E15}"/>
              </a:ext>
            </a:extLst>
          </p:cNvPr>
          <p:cNvSpPr txBox="1"/>
          <p:nvPr/>
        </p:nvSpPr>
        <p:spPr>
          <a:xfrm>
            <a:off x="1723572" y="1714500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solidFill>
                <a:srgbClr val="000000"/>
              </a:solidFill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1DC9B-32CB-5AB3-1738-32BFC0C7D028}"/>
              </a:ext>
            </a:extLst>
          </p:cNvPr>
          <p:cNvSpPr txBox="1"/>
          <p:nvPr/>
        </p:nvSpPr>
        <p:spPr>
          <a:xfrm>
            <a:off x="3048000" y="861786"/>
            <a:ext cx="526143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2E6B8-30B1-77A9-B13B-3F074DED46C4}"/>
              </a:ext>
            </a:extLst>
          </p:cNvPr>
          <p:cNvSpPr txBox="1"/>
          <p:nvPr/>
        </p:nvSpPr>
        <p:spPr>
          <a:xfrm>
            <a:off x="3048000" y="1351643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ED0B6-F10A-6800-171B-8A4B3CF315F3}"/>
              </a:ext>
            </a:extLst>
          </p:cNvPr>
          <p:cNvSpPr txBox="1"/>
          <p:nvPr/>
        </p:nvSpPr>
        <p:spPr>
          <a:xfrm>
            <a:off x="3048000" y="1714500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4EBE5-4BD3-102E-BC82-EBA94916D7FA}"/>
              </a:ext>
            </a:extLst>
          </p:cNvPr>
          <p:cNvSpPr txBox="1"/>
          <p:nvPr/>
        </p:nvSpPr>
        <p:spPr>
          <a:xfrm>
            <a:off x="3048000" y="2159000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3B72A-F47B-A114-16EA-DE32E258B80A}"/>
              </a:ext>
            </a:extLst>
          </p:cNvPr>
          <p:cNvSpPr txBox="1"/>
          <p:nvPr/>
        </p:nvSpPr>
        <p:spPr>
          <a:xfrm>
            <a:off x="2975429" y="2884714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263B3-4C7D-84F2-D68F-7F4ED8A778EC}"/>
              </a:ext>
            </a:extLst>
          </p:cNvPr>
          <p:cNvSpPr txBox="1"/>
          <p:nvPr/>
        </p:nvSpPr>
        <p:spPr>
          <a:xfrm>
            <a:off x="2975429" y="3764643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950EF-BF0E-B28C-1EB6-FEBDD47B726F}"/>
              </a:ext>
            </a:extLst>
          </p:cNvPr>
          <p:cNvSpPr txBox="1"/>
          <p:nvPr/>
        </p:nvSpPr>
        <p:spPr>
          <a:xfrm>
            <a:off x="2975429" y="4553858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⑧</a:t>
            </a:r>
          </a:p>
        </p:txBody>
      </p:sp>
    </p:spTree>
    <p:extLst>
      <p:ext uri="{BB962C8B-B14F-4D97-AF65-F5344CB8AC3E}">
        <p14:creationId xmlns:p14="http://schemas.microsoft.com/office/powerpoint/2010/main" val="36586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DD00C5-19C4-9EB8-4EA3-7B368FFE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B686C4-0998-3699-4745-636485F7A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456"/>
            <a:ext cx="12192000" cy="6489945"/>
          </a:xfrm>
          <a:prstGeom prst="rect">
            <a:avLst/>
          </a:prstGeom>
          <a:ln>
            <a:noFill/>
          </a:ln>
        </p:spPr>
      </p:pic>
      <p:pic>
        <p:nvPicPr>
          <p:cNvPr id="4" name="그림 3" descr="텍스트, 전자제품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8A2693-3E75-2CED-A935-BAB94941F0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4" r="1780" b="-129"/>
          <a:stretch>
            <a:fillRect/>
          </a:stretch>
        </p:blipFill>
        <p:spPr>
          <a:xfrm>
            <a:off x="526291" y="1714500"/>
            <a:ext cx="5756772" cy="47774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D83526-323D-9C79-7696-E99FB1DA1BE0}"/>
              </a:ext>
            </a:extLst>
          </p:cNvPr>
          <p:cNvSpPr/>
          <p:nvPr/>
        </p:nvSpPr>
        <p:spPr>
          <a:xfrm>
            <a:off x="8904270" y="1703797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1.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작업 일정을 관리하는 </a:t>
            </a:r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페이지</a:t>
            </a:r>
            <a:endParaRPr 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2.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일정 생성을 누르면 교대 </a:t>
            </a:r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일정 생성 사이드바가 나타나고 여기서 날짜와 설비를 설정하고 생성을 누르면 거기에 맞춰 </a:t>
            </a:r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교대조를 생성함</a:t>
            </a:r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3.</a:t>
            </a:r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 만들어진 일정에 직원 </a:t>
            </a:r>
            <a:endParaRPr lang="en-US" altLang="ko-KR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배치를 누르면 직원을 선택할 수 있는 창이 나타나고 원하는 직원을 선택하고 배치하면 해당 일정에 직원이 배치된다</a:t>
            </a:r>
            <a:r>
              <a:rPr lang="en-US" altLang="ko-KR" sz="1500">
                <a:solidFill>
                  <a:srgbClr val="000000"/>
                </a:solidFill>
                <a:latin typeface="Malgun Gothic"/>
                <a:ea typeface="Malgun Gothic"/>
              </a:rPr>
              <a:t>.</a:t>
            </a:r>
          </a:p>
          <a:p>
            <a:r>
              <a:rPr lang="en-US" altLang="ko-KR" sz="150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F0C21F-0B9C-8016-DDFE-14040C747F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09" b="-6114"/>
          <a:stretch>
            <a:fillRect/>
          </a:stretch>
        </p:blipFill>
        <p:spPr>
          <a:xfrm>
            <a:off x="6289175" y="4402906"/>
            <a:ext cx="2490468" cy="20804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3712D2-D896-D215-80B1-74305C2297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02" r="28112" b="3604"/>
          <a:stretch>
            <a:fillRect/>
          </a:stretch>
        </p:blipFill>
        <p:spPr>
          <a:xfrm>
            <a:off x="6280708" y="1705939"/>
            <a:ext cx="2493375" cy="26955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6E0BFE-D642-ACE3-1696-CDB3E23CF612}"/>
              </a:ext>
            </a:extLst>
          </p:cNvPr>
          <p:cNvSpPr/>
          <p:nvPr/>
        </p:nvSpPr>
        <p:spPr>
          <a:xfrm>
            <a:off x="5371797" y="3525397"/>
            <a:ext cx="560023" cy="238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9195229-8403-62DD-974D-EA0CB2379638}"/>
              </a:ext>
            </a:extLst>
          </p:cNvPr>
          <p:cNvSpPr/>
          <p:nvPr/>
        </p:nvSpPr>
        <p:spPr>
          <a:xfrm>
            <a:off x="5379904" y="4177229"/>
            <a:ext cx="486578" cy="2295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D9BC2E-627C-05C2-2A79-82602AE1C82C}"/>
              </a:ext>
            </a:extLst>
          </p:cNvPr>
          <p:cNvSpPr/>
          <p:nvPr/>
        </p:nvSpPr>
        <p:spPr>
          <a:xfrm>
            <a:off x="6282447" y="1702340"/>
            <a:ext cx="2488659" cy="2674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1EF8F9A-5014-D29C-285A-7128FA01A599}"/>
              </a:ext>
            </a:extLst>
          </p:cNvPr>
          <p:cNvSpPr/>
          <p:nvPr/>
        </p:nvSpPr>
        <p:spPr>
          <a:xfrm>
            <a:off x="6290551" y="4409871"/>
            <a:ext cx="2480554" cy="2083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735A6A-2241-908D-5D62-8C2620E0FB6B}"/>
              </a:ext>
            </a:extLst>
          </p:cNvPr>
          <p:cNvSpPr txBox="1"/>
          <p:nvPr/>
        </p:nvSpPr>
        <p:spPr>
          <a:xfrm>
            <a:off x="1979911" y="668379"/>
            <a:ext cx="2441356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동작 설명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E40827-5AF1-F5B1-DE4F-2D46A95D8852}"/>
              </a:ext>
            </a:extLst>
          </p:cNvPr>
          <p:cNvSpPr txBox="1"/>
          <p:nvPr/>
        </p:nvSpPr>
        <p:spPr>
          <a:xfrm>
            <a:off x="5266267" y="3105453"/>
            <a:ext cx="355600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  <a:p>
            <a:pPr algn="ctr"/>
            <a:endParaRPr lang="ko-KR" altLang="en-US" sz="15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43AE28-C282-9ABD-4A97-F05F8DF5B181}"/>
              </a:ext>
            </a:extLst>
          </p:cNvPr>
          <p:cNvSpPr txBox="1"/>
          <p:nvPr/>
        </p:nvSpPr>
        <p:spPr>
          <a:xfrm>
            <a:off x="5020734" y="3857776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B73112B-08CA-3C11-6049-CB9A2248DBFE}"/>
              </a:ext>
            </a:extLst>
          </p:cNvPr>
          <p:cNvCxnSpPr/>
          <p:nvPr/>
        </p:nvCxnSpPr>
        <p:spPr>
          <a:xfrm flipV="1">
            <a:off x="5934205" y="3637755"/>
            <a:ext cx="351498" cy="886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50DEA60-5A6F-1254-EBFE-00F4298E71D3}"/>
              </a:ext>
            </a:extLst>
          </p:cNvPr>
          <p:cNvCxnSpPr>
            <a:cxnSpLocks/>
          </p:cNvCxnSpPr>
          <p:nvPr/>
        </p:nvCxnSpPr>
        <p:spPr>
          <a:xfrm>
            <a:off x="5862767" y="4295511"/>
            <a:ext cx="434842" cy="31260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070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2E7EBD-062A-2316-DBEE-AB07474B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42086E-96D2-A9D6-44DE-7BE89C1A7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799977-0593-3386-F491-CE8360070969}"/>
              </a:ext>
            </a:extLst>
          </p:cNvPr>
          <p:cNvSpPr/>
          <p:nvPr/>
        </p:nvSpPr>
        <p:spPr>
          <a:xfrm>
            <a:off x="8904270" y="1703797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1 공정 목록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2 상세 보기 사이드바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3 해당 공정을 쓰고있는 설비 </a:t>
            </a:r>
            <a:r>
              <a:rPr lang="ko-KR" altLang="en-US" sz="1500" dirty="0">
                <a:solidFill>
                  <a:srgbClr val="000000"/>
                </a:solidFill>
                <a:latin typeface="Malgun Gothic"/>
                <a:ea typeface="Malgun Gothic"/>
              </a:rPr>
              <a:t>목록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4 해당 공정을 하기 위해 작업자가 가지고 있어야하는 자격증 또는 교육 이수증 목록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9BABB3-BA5E-E284-33AB-8967F95064CB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공정 관리 </a:t>
            </a:r>
            <a:r>
              <a:rPr lang="ko-KR" altLang="en-US" sz="2500" b="1">
                <a:solidFill>
                  <a:srgbClr val="FF0000"/>
                </a:solidFill>
                <a:ea typeface="맑은 고딕"/>
              </a:rPr>
              <a:t>동작 설명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8D6C08-6651-1E9C-42C5-EB0A7D5A750B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공정 상세</a:t>
            </a:r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2DCD58-2110-3B3A-2605-819FCAD3B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41" y="1720539"/>
            <a:ext cx="5664614" cy="4236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AC6407-DB5D-9D57-AAD3-A1AA40EA1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518" y="1987136"/>
            <a:ext cx="2806769" cy="36871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063157-AB0D-BC3E-218B-BCB23E32536D}"/>
              </a:ext>
            </a:extLst>
          </p:cNvPr>
          <p:cNvSpPr txBox="1"/>
          <p:nvPr/>
        </p:nvSpPr>
        <p:spPr>
          <a:xfrm>
            <a:off x="430215" y="2539383"/>
            <a:ext cx="426358" cy="666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ea typeface="맑은 고딕"/>
              </a:rPr>
              <a:t>①</a:t>
            </a:r>
            <a:endParaRPr lang="ko-KR" altLang="en-US" sz="1500">
              <a:ea typeface="맑은 고딕"/>
            </a:endParaRPr>
          </a:p>
          <a:p>
            <a:pPr algn="ctr"/>
            <a:endParaRPr lang="ko-KR" altLang="en-US" sz="15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08025-A9C2-3071-2C67-1CD8354F2FD7}"/>
              </a:ext>
            </a:extLst>
          </p:cNvPr>
          <p:cNvSpPr txBox="1"/>
          <p:nvPr/>
        </p:nvSpPr>
        <p:spPr>
          <a:xfrm>
            <a:off x="4472267" y="2986911"/>
            <a:ext cx="526143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B98941-5046-79F6-D878-237F7762FBB7}"/>
              </a:ext>
            </a:extLst>
          </p:cNvPr>
          <p:cNvSpPr/>
          <p:nvPr/>
        </p:nvSpPr>
        <p:spPr>
          <a:xfrm>
            <a:off x="4788347" y="3279583"/>
            <a:ext cx="590147" cy="2457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BBADDA-C76E-68C0-9142-FBB884202F70}"/>
              </a:ext>
            </a:extLst>
          </p:cNvPr>
          <p:cNvSpPr/>
          <p:nvPr/>
        </p:nvSpPr>
        <p:spPr>
          <a:xfrm>
            <a:off x="6092677" y="1990161"/>
            <a:ext cx="2820679" cy="3682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BC2D10-3B88-EE0C-015A-1C9194E10088}"/>
              </a:ext>
            </a:extLst>
          </p:cNvPr>
          <p:cNvSpPr txBox="1"/>
          <p:nvPr/>
        </p:nvSpPr>
        <p:spPr>
          <a:xfrm>
            <a:off x="6007769" y="3693790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4CB094-9A67-90B6-1F8F-7C12C5B5A2EE}"/>
              </a:ext>
            </a:extLst>
          </p:cNvPr>
          <p:cNvSpPr txBox="1"/>
          <p:nvPr/>
        </p:nvSpPr>
        <p:spPr>
          <a:xfrm>
            <a:off x="5999748" y="4714374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A2EC563-FBCC-FFAD-BC38-0E136E511D8D}"/>
              </a:ext>
            </a:extLst>
          </p:cNvPr>
          <p:cNvSpPr/>
          <p:nvPr/>
        </p:nvSpPr>
        <p:spPr>
          <a:xfrm>
            <a:off x="6336410" y="4001477"/>
            <a:ext cx="1472462" cy="654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8CC97EF-A9F4-099B-1968-0EE9E5279940}"/>
              </a:ext>
            </a:extLst>
          </p:cNvPr>
          <p:cNvSpPr/>
          <p:nvPr/>
        </p:nvSpPr>
        <p:spPr>
          <a:xfrm>
            <a:off x="6336410" y="5020151"/>
            <a:ext cx="734525" cy="3660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772EEFC-11F9-71BE-F85C-39FB3F36A1DE}"/>
              </a:ext>
            </a:extLst>
          </p:cNvPr>
          <p:cNvCxnSpPr>
            <a:cxnSpLocks/>
          </p:cNvCxnSpPr>
          <p:nvPr/>
        </p:nvCxnSpPr>
        <p:spPr>
          <a:xfrm>
            <a:off x="5386023" y="3424942"/>
            <a:ext cx="711719" cy="4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982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65BDE2-ED6E-EB4C-1418-9CE75BF0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B98195-D54C-1B58-6593-FA84B6F33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64"/>
            <a:ext cx="12192000" cy="650212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1D8690-168B-04BB-F510-00D0F4F8F800}"/>
              </a:ext>
            </a:extLst>
          </p:cNvPr>
          <p:cNvSpPr/>
          <p:nvPr/>
        </p:nvSpPr>
        <p:spPr>
          <a:xfrm>
            <a:off x="7789343" y="1711818"/>
            <a:ext cx="2842516" cy="4255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5. 새 공정 생성 사이드바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6. 기존 공정 수정 사이드바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7. 해당 공정에 필요한 자격증</a:t>
            </a:r>
          </a:p>
          <a:p>
            <a:endParaRPr lang="ko-KR" altLang="en-US" sz="150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ko-KR" altLang="en-US" sz="1500">
                <a:solidFill>
                  <a:srgbClr val="000000"/>
                </a:solidFill>
                <a:latin typeface="Malgun Gothic"/>
                <a:ea typeface="Malgun Gothic"/>
              </a:rPr>
              <a:t>8. 자격증, 교육 검색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6145B6-9D3A-10CA-EBAA-A478FA1A110D}"/>
              </a:ext>
            </a:extLst>
          </p:cNvPr>
          <p:cNvSpPr txBox="1"/>
          <p:nvPr/>
        </p:nvSpPr>
        <p:spPr>
          <a:xfrm>
            <a:off x="604895" y="562086"/>
            <a:ext cx="69222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b="1">
                <a:ea typeface="맑은 고딕"/>
              </a:rPr>
              <a:t>공정 관리 </a:t>
            </a:r>
            <a:r>
              <a:rPr lang="ko-KR" altLang="en-US" sz="2500" b="1">
                <a:solidFill>
                  <a:srgbClr val="FF0000"/>
                </a:solidFill>
                <a:ea typeface="맑은 고딕"/>
              </a:rPr>
              <a:t>동작 설명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A6EC47-22FC-9109-3630-95920BB81B62}"/>
              </a:ext>
            </a:extLst>
          </p:cNvPr>
          <p:cNvSpPr txBox="1"/>
          <p:nvPr/>
        </p:nvSpPr>
        <p:spPr>
          <a:xfrm>
            <a:off x="9854630" y="663539"/>
            <a:ext cx="1952091" cy="32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83" spc="83">
                <a:solidFill>
                  <a:schemeClr val="bg1"/>
                </a:solidFill>
                <a:latin typeface="Pretendard Medium"/>
                <a:ea typeface="맑은 고딕"/>
              </a:rPr>
              <a:t>공정 상세</a:t>
            </a:r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745718-914F-1C3F-BA88-DF929BAA0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42" t="19058" r="-328" b="54720"/>
          <a:stretch>
            <a:fillRect/>
          </a:stretch>
        </p:blipFill>
        <p:spPr>
          <a:xfrm>
            <a:off x="419524" y="1378680"/>
            <a:ext cx="1352983" cy="11110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 descr="텍스트, 스크린샷, 번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72DAC0-C0F2-005E-F9C0-FE95D78AD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424" y="2513920"/>
            <a:ext cx="2992438" cy="3952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5CE849-0970-D9C8-5F2C-333A0F1B93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512" r="473" b="116"/>
          <a:stretch>
            <a:fillRect/>
          </a:stretch>
        </p:blipFill>
        <p:spPr>
          <a:xfrm>
            <a:off x="422388" y="2513920"/>
            <a:ext cx="2859782" cy="3951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5E6968-A3EF-ADAE-6AB0-29EA227E28A3}"/>
              </a:ext>
            </a:extLst>
          </p:cNvPr>
          <p:cNvSpPr/>
          <p:nvPr/>
        </p:nvSpPr>
        <p:spPr>
          <a:xfrm>
            <a:off x="3277429" y="2513381"/>
            <a:ext cx="2991018" cy="3951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ED50B2-BFE3-1DA3-2557-2243FAA48ADD}"/>
              </a:ext>
            </a:extLst>
          </p:cNvPr>
          <p:cNvSpPr/>
          <p:nvPr/>
        </p:nvSpPr>
        <p:spPr>
          <a:xfrm>
            <a:off x="412912" y="2526902"/>
            <a:ext cx="2874630" cy="39521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6C91E7-C8A6-364F-DA0E-139D89291243}"/>
              </a:ext>
            </a:extLst>
          </p:cNvPr>
          <p:cNvSpPr/>
          <p:nvPr/>
        </p:nvSpPr>
        <p:spPr>
          <a:xfrm>
            <a:off x="952698" y="1445807"/>
            <a:ext cx="705019" cy="2234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34F411-2898-8AA9-640F-DAB37E4A75D8}"/>
              </a:ext>
            </a:extLst>
          </p:cNvPr>
          <p:cNvSpPr/>
          <p:nvPr/>
        </p:nvSpPr>
        <p:spPr>
          <a:xfrm>
            <a:off x="1199680" y="2121542"/>
            <a:ext cx="370917" cy="2691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711C79A-B358-055E-6399-077AAE2923D1}"/>
              </a:ext>
            </a:extLst>
          </p:cNvPr>
          <p:cNvCxnSpPr/>
          <p:nvPr/>
        </p:nvCxnSpPr>
        <p:spPr>
          <a:xfrm flipH="1">
            <a:off x="1144917" y="1700684"/>
            <a:ext cx="10177" cy="806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02D561E-B366-2E28-3FAA-6F4A4009766E}"/>
              </a:ext>
            </a:extLst>
          </p:cNvPr>
          <p:cNvCxnSpPr>
            <a:cxnSpLocks/>
          </p:cNvCxnSpPr>
          <p:nvPr/>
        </p:nvCxnSpPr>
        <p:spPr>
          <a:xfrm>
            <a:off x="1572187" y="2230072"/>
            <a:ext cx="2203635" cy="2531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2F5D3D8-CE4E-A0DB-11AB-C085D95229FA}"/>
              </a:ext>
            </a:extLst>
          </p:cNvPr>
          <p:cNvSpPr txBox="1"/>
          <p:nvPr/>
        </p:nvSpPr>
        <p:spPr>
          <a:xfrm>
            <a:off x="601579" y="1116264"/>
            <a:ext cx="426358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7B97FF-236E-84CD-AC10-03CA88931643}"/>
              </a:ext>
            </a:extLst>
          </p:cNvPr>
          <p:cNvSpPr txBox="1"/>
          <p:nvPr/>
        </p:nvSpPr>
        <p:spPr>
          <a:xfrm>
            <a:off x="777660" y="1753745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E942D8-D326-2BC2-CAD3-E0902A08A8E3}"/>
              </a:ext>
            </a:extLst>
          </p:cNvPr>
          <p:cNvSpPr txBox="1"/>
          <p:nvPr/>
        </p:nvSpPr>
        <p:spPr>
          <a:xfrm>
            <a:off x="1202776" y="4398305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⑦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B56AB2A-54FA-932D-1900-07EF9DCD93E5}"/>
              </a:ext>
            </a:extLst>
          </p:cNvPr>
          <p:cNvSpPr/>
          <p:nvPr/>
        </p:nvSpPr>
        <p:spPr>
          <a:xfrm>
            <a:off x="533227" y="4836963"/>
            <a:ext cx="2666083" cy="3185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397A529-D1BF-8313-5602-4FD2768C9CDB}"/>
              </a:ext>
            </a:extLst>
          </p:cNvPr>
          <p:cNvSpPr/>
          <p:nvPr/>
        </p:nvSpPr>
        <p:spPr>
          <a:xfrm>
            <a:off x="533226" y="5430522"/>
            <a:ext cx="2666083" cy="5351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F5A283-245D-7BF5-FA51-8AB67591A92B}"/>
              </a:ext>
            </a:extLst>
          </p:cNvPr>
          <p:cNvSpPr txBox="1"/>
          <p:nvPr/>
        </p:nvSpPr>
        <p:spPr>
          <a:xfrm>
            <a:off x="1146629" y="5067205"/>
            <a:ext cx="498929" cy="43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33" b="1">
                <a:solidFill>
                  <a:srgbClr val="FF0000"/>
                </a:solidFill>
                <a:latin typeface="맑은 고딕"/>
                <a:ea typeface="맑은 고딕"/>
              </a:rPr>
              <a:t>⑧</a:t>
            </a:r>
          </a:p>
        </p:txBody>
      </p:sp>
    </p:spTree>
    <p:extLst>
      <p:ext uri="{BB962C8B-B14F-4D97-AF65-F5344CB8AC3E}">
        <p14:creationId xmlns:p14="http://schemas.microsoft.com/office/powerpoint/2010/main" val="24704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Office PowerPoint</Application>
  <PresentationFormat>와이드스크린</PresentationFormat>
  <Paragraphs>213</Paragraphs>
  <Slides>19</Slides>
  <Notes>0</Notes>
  <HiddenSlides>4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Pretendard Medium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성우 서</dc:creator>
  <cp:lastModifiedBy>성우 서</cp:lastModifiedBy>
  <cp:revision>1</cp:revision>
  <dcterms:created xsi:type="dcterms:W3CDTF">2025-10-22T01:31:10Z</dcterms:created>
  <dcterms:modified xsi:type="dcterms:W3CDTF">2025-10-22T01:32:22Z</dcterms:modified>
</cp:coreProperties>
</file>