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803" r:id="rId1"/>
  </p:sldMasterIdLst>
  <p:notesMasterIdLst>
    <p:notesMasterId r:id="rId3"/>
  </p:notesMasterIdLst>
  <p:sldIdLst>
    <p:sldId id="289" r:id="rId2"/>
  </p:sldIdLst>
  <p:sldSz cx="18288000" cy="10287000"/>
  <p:notesSz cx="6858000" cy="9144000"/>
  <p:embeddedFontLst>
    <p:embeddedFont>
      <p:font typeface="Pretendard Medium" panose="020B0600000101010101" charset="-127"/>
      <p:bold r:id="rId4"/>
    </p:embeddedFont>
    <p:embeddedFont>
      <p:font typeface="Pretendard Regular" panose="020B0600000101010101" charset="-127"/>
      <p:regular r:id="rId5"/>
    </p:embeddedFont>
    <p:embeddedFont>
      <p:font typeface="Pretendard SemiBold" panose="020B0600000101010101" charset="-127"/>
      <p:bold r:id="rId6"/>
    </p:embeddedFont>
    <p:embeddedFont>
      <p:font typeface="Consolas" panose="020B0609020204030204" pitchFamily="49" charset="0"/>
      <p:regular r:id="rId7"/>
      <p:bold r:id="rId8"/>
      <p:italic r:id="rId9"/>
      <p:boldItalic r:id="rId10"/>
    </p:embeddedFont>
    <p:embeddedFont>
      <p:font typeface="맑은 고딕" panose="020B0503020000020004" pitchFamily="50" charset="-127"/>
      <p:regular r:id="rId11"/>
      <p:bold r:id="rId12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5E5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1887" autoAdjust="0"/>
  </p:normalViewPr>
  <p:slideViewPr>
    <p:cSldViewPr>
      <p:cViewPr>
        <p:scale>
          <a:sx n="75" d="100"/>
          <a:sy n="75" d="100"/>
        </p:scale>
        <p:origin x="-1566" y="-10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" Type="http://schemas.openxmlformats.org/officeDocument/2006/relationships/font" Target="fonts/font2.fntdata"/><Relationship Id="rId15" Type="http://schemas.openxmlformats.org/officeDocument/2006/relationships/theme" Target="theme/theme1.xml"/><Relationship Id="rId10" Type="http://schemas.openxmlformats.org/officeDocument/2006/relationships/font" Target="fonts/font7.fntdata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A77AE2-AE70-4A6C-9194-89C64575FD33}" type="datetimeFigureOut">
              <a:rPr lang="ko-KR" altLang="en-US" smtClean="0"/>
              <a:t>2025-10-15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81C645-1F35-4F92-9369-362DD87405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4157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0E81EB-F10E-403B-A95B-83FE1779FA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1683545"/>
            <a:ext cx="13716000" cy="3581400"/>
          </a:xfrm>
        </p:spPr>
        <p:txBody>
          <a:bodyPr anchor="b"/>
          <a:lstStyle>
            <a:lvl1pPr algn="ctr">
              <a:defRPr sz="9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265A869-9325-471C-BAF5-FDE2348995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</p:spPr>
        <p:txBody>
          <a:bodyPr/>
          <a:lstStyle>
            <a:lvl1pPr marL="0" indent="0" algn="ctr">
              <a:buNone/>
              <a:defRPr sz="3600"/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A8DB694-1A5E-4F6B-88C6-79A53A07A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10/15/2025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CA4DED-1B20-4190-B7FA-77A58A40E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E14718B-4D31-4FB2-99EA-0014BC0E0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8693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01CB65-F747-4BAC-8EAC-7CA0FD6AA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FF7F757-A902-4A4A-B168-F52CABDED6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B0B4624-6570-4ECC-BF9F-41D80E2E5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10/15/2025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FCEF9DD-6C10-4B29-A418-4F61B342A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8AD6CB7-B6C3-4592-9B05-8589468BD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5279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BCD321-3844-4229-92C8-E00B7ADD8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7775" y="2564608"/>
            <a:ext cx="15773400" cy="4279106"/>
          </a:xfrm>
        </p:spPr>
        <p:txBody>
          <a:bodyPr anchor="b"/>
          <a:lstStyle>
            <a:lvl1pPr>
              <a:defRPr sz="9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BF5F2F0-EA9B-48CF-9A62-E4A4FD8EA6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7775" y="6884195"/>
            <a:ext cx="15773400" cy="2250281"/>
          </a:xfrm>
        </p:spPr>
        <p:txBody>
          <a:bodyPr/>
          <a:lstStyle>
            <a:lvl1pPr marL="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1pPr>
            <a:lvl2pPr marL="685800" indent="0">
              <a:buNone/>
              <a:defRPr sz="30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854843-0D99-4CD1-9335-730AE098D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10/15/2025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534F67-AD4B-4B77-82A4-49DB28675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3A22FC4-502A-4BC9-9E88-92AA90234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6563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2C28EE-6D4C-452C-8DCC-7DA4A0729A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5D3FCC1-CC8A-4A6F-8601-C9993C14A1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57300" y="2738438"/>
            <a:ext cx="7772400" cy="652700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D277EDB-98B1-4130-9606-08279BDDB8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258300" y="2738438"/>
            <a:ext cx="7772400" cy="652700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3346D9F-BF56-4374-8161-7F6ACC014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10/15/2025</a:t>
            </a:fld>
            <a:endParaRPr 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8796D3D-B987-402F-8F5A-39283F72D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39CFD50-12F7-4274-A3AD-BBAAE2963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0453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C34C44-17A3-4D95-908F-64785E2F3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2" y="547688"/>
            <a:ext cx="15773400" cy="198834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562E2FD-46D4-404B-B18C-21AB4A071F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9683" y="2521745"/>
            <a:ext cx="7736681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3C1CF50-383A-4B04-AD71-2F2C3C6566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59683" y="3757613"/>
            <a:ext cx="7736681" cy="552688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172141C-A3FF-4818-A74F-8DFDE555FA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258300" y="2521745"/>
            <a:ext cx="7774782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1FB63E9-DDE2-4FFC-9C20-13D13FEB87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258300" y="3757613"/>
            <a:ext cx="7774782" cy="552688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4555EE5-31A6-4F53-BDFC-285142477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10/15/2025</a:t>
            </a:fld>
            <a:endParaRPr 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99B5930-9F3B-4D67-A845-0C57AEC75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3ADB6FD-1072-43B2-88D2-6F9F56ACA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758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B68947-C542-46AD-989F-5A22C2B2C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CBC3818-107F-41E6-9685-45F15BC4D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10/15/2025</a:t>
            </a:fld>
            <a:endParaRPr 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E301B3D-AF94-43D2-95E4-335234519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24AED66-828A-4F51-B6C0-DB258B7AB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4773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C6B4B17-7D0D-4BE6-8AAB-CA61AF385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10/15/2025</a:t>
            </a:fld>
            <a:endParaRPr 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E36CD45-9695-4EC1-B860-4A8A37116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1F3879A-015E-467F-9D17-A253920EE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1354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F5B44A-85F2-42E2-BACE-94D0CA1CB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A0C4416-0B2A-4F44-B144-C6C14EB62F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>
              <a:defRPr sz="4800"/>
            </a:lvl1pPr>
            <a:lvl2pPr>
              <a:defRPr sz="4200"/>
            </a:lvl2pPr>
            <a:lvl3pPr>
              <a:defRPr sz="36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A11892D-4555-467C-A897-9E7AEE669F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A1F32F7-02BB-4410-8804-66E2D2420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10/15/2025</a:t>
            </a:fld>
            <a:endParaRPr 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53FD4C6-2737-4DC7-ADBC-38035B603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C1A5BAD-41B9-4D77-9BC2-05C24D4FD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824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6F52AF-9E41-4DFA-8232-9236A2213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41AEC01-0068-4D0E-97C5-ED65FB9F6C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FFA4E94-D87C-4548-9F8E-4DA6BA0046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B2E9EBC-3687-4A34-8F6B-CA3468E6B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10/15/2025</a:t>
            </a:fld>
            <a:endParaRPr 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4A5E6B9-66DA-4A44-94F2-C2025F8D2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ED2430B-D4B1-47CD-A781-BB9C209BC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1762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2A02FF-FE35-4D01-AB88-4803D3D58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C1A8D25-762C-41A9-B489-B46A2A2780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35CD130-97BD-4A58-A6B7-6514A3DD67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10/15/2025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454768E-A4AC-4036-8BC4-B758EC12F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6AF64F1-788B-4003-9FDD-87F9AB78E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4373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1D0E4C5-3CC1-4C30-9A54-B1889474C6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775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2B1A4BE-F79B-41B5-AEDF-29E5F210F1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01450" cy="871775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D3A5E31-EA2C-4024-AF2A-164727881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10/15/2025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E1BE67F-AE7E-41B1-BBB3-ADC179D684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136BEEE-08E2-4186-9284-A0585BCA9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4083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EA6F8EA-C334-4873-B558-0F46A9528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BE28F83-EBA3-4D9E-85ED-E9319CED08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B63E27A-0E5E-45B9-AE4D-7269657A48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10/15/2025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15470B5-2E0E-466A-A609-84CA0797B4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61241BA-6FFB-4C65-A04C-2249E738D2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877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805" r:id="rId2"/>
    <p:sldLayoutId id="2147483806" r:id="rId3"/>
    <p:sldLayoutId id="2147483807" r:id="rId4"/>
    <p:sldLayoutId id="2147483808" r:id="rId5"/>
    <p:sldLayoutId id="2147483809" r:id="rId6"/>
    <p:sldLayoutId id="2147483810" r:id="rId7"/>
    <p:sldLayoutId id="2147483811" r:id="rId8"/>
    <p:sldLayoutId id="2147483812" r:id="rId9"/>
    <p:sldLayoutId id="2147483813" r:id="rId10"/>
    <p:sldLayoutId id="2147483814" r:id="rId11"/>
  </p:sldLayoutIdLst>
  <p:txStyles>
    <p:titleStyle>
      <a:lvl1pPr algn="l" defTabSz="1371600" rtl="0" eaLnBrk="1" latinLnBrk="1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1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371600" rtl="0" eaLnBrk="1" latinLnBrk="1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1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1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1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1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1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1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1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1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00" y="5143500"/>
            <a:ext cx="18300700" cy="51689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" y="571500"/>
            <a:ext cx="17043400" cy="91567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511300" y="787400"/>
            <a:ext cx="2044700" cy="647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07899"/>
              </a:lnSpc>
            </a:pPr>
            <a:r>
              <a:rPr lang="en-US" sz="1900" b="0" i="0" u="none" strike="noStrike" spc="100" dirty="0">
                <a:solidFill>
                  <a:srgbClr val="FFFFFF"/>
                </a:solidFill>
                <a:latin typeface="Pretendard Medium"/>
              </a:rPr>
              <a:t>Chapter</a:t>
            </a:r>
          </a:p>
          <a:p>
            <a:pPr lvl="0" algn="ctr">
              <a:lnSpc>
                <a:spcPct val="107899"/>
              </a:lnSpc>
            </a:pPr>
            <a:r>
              <a:rPr lang="en-US" sz="1900" b="0" i="0" u="none" strike="noStrike" spc="100" dirty="0">
                <a:solidFill>
                  <a:srgbClr val="FFFFFF"/>
                </a:solidFill>
                <a:latin typeface="Pretendard Medium"/>
              </a:rPr>
              <a:t>06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>
            <a:off x="1498600" y="2540000"/>
            <a:ext cx="3619500" cy="666115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2100" y="2539999"/>
            <a:ext cx="3619500" cy="6661149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>
            <a:off x="9296400" y="2540000"/>
            <a:ext cx="3619500" cy="4787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69900" y="2540000"/>
            <a:ext cx="3619500" cy="49657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2300" y="3543300"/>
            <a:ext cx="17043400" cy="127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08300" y="8216900"/>
            <a:ext cx="812800" cy="8128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566900" y="6388100"/>
            <a:ext cx="812800" cy="8128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07476" y="8221024"/>
            <a:ext cx="812800" cy="8128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706100" y="6515100"/>
            <a:ext cx="812800" cy="8128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2730500" y="2857500"/>
            <a:ext cx="11684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2600" b="1" i="0" u="none" strike="noStrike" dirty="0">
                <a:solidFill>
                  <a:srgbClr val="00074E"/>
                </a:solidFill>
                <a:latin typeface="Pretendard Medium"/>
              </a:rPr>
              <a:t>김태영</a:t>
            </a:r>
            <a:endParaRPr lang="en-US" sz="2600" b="1" i="0" u="none" strike="noStrike" dirty="0">
              <a:solidFill>
                <a:srgbClr val="00074E"/>
              </a:solidFill>
              <a:latin typeface="Pretendard Medium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6616700" y="2857500"/>
            <a:ext cx="11557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2600" b="1" i="0" u="none" strike="noStrike" dirty="0" err="1">
                <a:solidFill>
                  <a:srgbClr val="00074E"/>
                </a:solidFill>
                <a:latin typeface="Pretendard Medium"/>
              </a:rPr>
              <a:t>서성우</a:t>
            </a:r>
            <a:endParaRPr lang="en-US" sz="2600" b="1" i="0" u="none" strike="noStrike" dirty="0">
              <a:solidFill>
                <a:srgbClr val="00074E"/>
              </a:solidFill>
              <a:latin typeface="Pretendard Medium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0502900" y="2857500"/>
            <a:ext cx="11684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2600" b="1" dirty="0">
                <a:solidFill>
                  <a:srgbClr val="00074E"/>
                </a:solidFill>
                <a:latin typeface="Pretendard Medium"/>
              </a:rPr>
              <a:t>장범수</a:t>
            </a:r>
            <a:endParaRPr lang="en-US" sz="2600" b="1" i="0" u="none" strike="noStrike" dirty="0">
              <a:solidFill>
                <a:srgbClr val="00074E"/>
              </a:solidFill>
              <a:latin typeface="Pretendard Medium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4389100" y="2857500"/>
            <a:ext cx="11684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2600" b="1" dirty="0">
                <a:solidFill>
                  <a:srgbClr val="FFFFFF"/>
                </a:solidFill>
                <a:latin typeface="Pretendard Medium"/>
              </a:rPr>
              <a:t>이</a:t>
            </a:r>
            <a:r>
              <a:rPr lang="ko-KR" altLang="en-US" sz="2600" b="1" i="0" u="none" strike="noStrike" dirty="0">
                <a:solidFill>
                  <a:srgbClr val="FFFFFF"/>
                </a:solidFill>
                <a:latin typeface="Pretendard Medium"/>
              </a:rPr>
              <a:t>상욱</a:t>
            </a:r>
            <a:endParaRPr lang="en-US" sz="2600" b="1" i="0" u="none" strike="noStrike" dirty="0">
              <a:solidFill>
                <a:srgbClr val="FFFFFF"/>
              </a:solidFill>
              <a:latin typeface="Pretendard Medium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676400" y="5511800"/>
            <a:ext cx="3149600" cy="1003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4499"/>
              </a:lnSpc>
            </a:pPr>
            <a:r>
              <a:rPr lang="en-US" altLang="ko-KR" sz="1400" b="1" dirty="0"/>
              <a:t>AI</a:t>
            </a:r>
            <a:r>
              <a:rPr lang="ko-KR" altLang="en-US" sz="1400" b="1" dirty="0"/>
              <a:t>를 활용하여 방대한 정보를 효율적으로 습득했으며</a:t>
            </a:r>
            <a:r>
              <a:rPr lang="en-US" altLang="ko-KR" sz="1400" b="1" dirty="0"/>
              <a:t>, </a:t>
            </a:r>
            <a:r>
              <a:rPr lang="ko-KR" altLang="en-US" sz="1400" b="1" dirty="0"/>
              <a:t>이 지식이 현업에서 왜 필요한지 그 필연성과 실효성을 깊이 있게 체감했습니다</a:t>
            </a:r>
            <a:r>
              <a:rPr lang="en-US" altLang="ko-KR" sz="1400" b="1" dirty="0"/>
              <a:t>.</a:t>
            </a:r>
          </a:p>
          <a:p>
            <a:pPr lvl="0" algn="ctr">
              <a:lnSpc>
                <a:spcPct val="124499"/>
              </a:lnSpc>
            </a:pPr>
            <a:endParaRPr lang="en-US" altLang="ko-KR" sz="1400" b="1" dirty="0"/>
          </a:p>
          <a:p>
            <a:pPr lvl="0" algn="ctr">
              <a:lnSpc>
                <a:spcPct val="124499"/>
              </a:lnSpc>
            </a:pPr>
            <a:r>
              <a:rPr lang="ko-KR" altLang="en-US" sz="1400" b="1" dirty="0"/>
              <a:t>업무 규칙 등 학습한 개발 툴과 방법론들이 단순한 이론이 아닌</a:t>
            </a:r>
            <a:r>
              <a:rPr lang="en-US" altLang="ko-KR" sz="1400" b="1" dirty="0"/>
              <a:t>, </a:t>
            </a:r>
            <a:r>
              <a:rPr lang="ko-KR" altLang="en-US" sz="1400" b="1" dirty="0"/>
              <a:t>개발 생산성을 높이는 핵심 요소임을 확인했습니다</a:t>
            </a:r>
            <a:r>
              <a:rPr lang="en-US" altLang="ko-KR" sz="1400" b="1" dirty="0"/>
              <a:t>.</a:t>
            </a:r>
            <a:r>
              <a:rPr lang="ko-KR" altLang="en-US" sz="1400" b="1" dirty="0"/>
              <a:t>조원들에게 실무 적용 포인트를 공유하며 현업 적응력을 높이는 데 집중했습니다</a:t>
            </a:r>
            <a:r>
              <a:rPr lang="en-US" altLang="ko-KR" sz="1400" b="1" dirty="0"/>
              <a:t>.</a:t>
            </a:r>
          </a:p>
          <a:p>
            <a:pPr lvl="0" algn="ctr">
              <a:lnSpc>
                <a:spcPct val="124499"/>
              </a:lnSpc>
            </a:pPr>
            <a:endParaRPr lang="en-US" altLang="ko-KR" sz="1400" b="1" dirty="0"/>
          </a:p>
          <a:p>
            <a:pPr lvl="0" algn="ctr">
              <a:lnSpc>
                <a:spcPct val="124499"/>
              </a:lnSpc>
            </a:pPr>
            <a:r>
              <a:rPr lang="ko-KR" altLang="en-US" sz="1400" b="1" dirty="0"/>
              <a:t>가장 큰 성과는 프로젝트 전후로 조원들의 실무 자신감이 확연히 달라진 점입니다</a:t>
            </a:r>
            <a:r>
              <a:rPr lang="en-US" altLang="ko-KR" sz="1400" b="1" dirty="0"/>
              <a:t>. </a:t>
            </a:r>
            <a:r>
              <a:rPr lang="ko-KR" altLang="en-US" sz="1400" b="1" dirty="0"/>
              <a:t>배운 내용을 적용하고 효용성을 체감하는 과정 자체가 이 프로젝트의 가장 의미 있는 성과입니다</a:t>
            </a:r>
            <a:r>
              <a:rPr lang="en-US" altLang="ko-KR" sz="1400" b="1" dirty="0"/>
              <a:t>.</a:t>
            </a:r>
            <a:endParaRPr lang="en-US" altLang="ko-KR" sz="1400" b="1" i="0" u="none" strike="noStrike" dirty="0">
              <a:latin typeface="Pretendard Regular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5639076" y="3790951"/>
            <a:ext cx="3149600" cy="4389749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r>
              <a:rPr lang="ko-KR" altLang="en-US" sz="1400" b="1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백엔드</a:t>
            </a:r>
            <a:r>
              <a:rPr lang="ko-KR" altLang="en-US" sz="1400" b="1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기능은 구현했지만 </a:t>
            </a:r>
            <a:r>
              <a:rPr lang="ko-KR" altLang="en-US" sz="1400" b="1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프론트엔드와</a:t>
            </a:r>
            <a:r>
              <a:rPr lang="ko-KR" altLang="en-US" sz="1400" b="1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연동하지 못해 실제 서비스에 반영되지 못한 부분이 있었고</a:t>
            </a:r>
            <a:r>
              <a:rPr lang="en-US" altLang="ko-KR" sz="1400" b="1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en-US" sz="1400" b="1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시간 들여 만들었지만 결과적으로 불필요했던 코드도 있었습니다</a:t>
            </a:r>
            <a:r>
              <a:rPr lang="en-US" altLang="ko-KR" sz="1400" b="1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</a:p>
          <a:p>
            <a:endParaRPr lang="en-US" altLang="ko-KR" sz="1400" b="1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400" b="1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이는 ‘필요할 것 </a:t>
            </a:r>
            <a:r>
              <a:rPr lang="ko-KR" altLang="en-US" sz="1400" b="1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같다’는</a:t>
            </a:r>
            <a:r>
              <a:rPr lang="ko-KR" altLang="en-US" sz="1400" b="1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생각에 우선 구현부터 시작했던 점과</a:t>
            </a:r>
            <a:r>
              <a:rPr lang="en-US" altLang="ko-KR" sz="1400" b="1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en-US" sz="1400" b="1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프론트 연동을 고려하지 않고 </a:t>
            </a:r>
            <a:r>
              <a:rPr lang="en-US" altLang="ko-KR" sz="1400" b="1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Swagger</a:t>
            </a:r>
            <a:r>
              <a:rPr lang="ko-KR" altLang="en-US" sz="1400" b="1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로만 테스트했던 점에서 비롯된 것 같습니다</a:t>
            </a:r>
            <a:r>
              <a:rPr lang="en-US" altLang="ko-KR" sz="1400" b="1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</a:p>
          <a:p>
            <a:endParaRPr lang="en-US" altLang="ko-KR" sz="1400" b="1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ko-KR" altLang="en-US" sz="1400" b="1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하지만 </a:t>
            </a:r>
            <a:r>
              <a:rPr lang="ko-KR" altLang="en-US" sz="1400" b="1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팀원들과의</a:t>
            </a:r>
            <a:r>
              <a:rPr lang="ko-KR" altLang="en-US" sz="1400" b="1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지속적인 회의를 통해 각자가 </a:t>
            </a:r>
            <a:r>
              <a:rPr lang="ko-KR" altLang="en-US" sz="1400" b="1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해야할</a:t>
            </a:r>
            <a:r>
              <a:rPr lang="ko-KR" altLang="en-US" sz="1400" b="1" dirty="0">
                <a:solidFill>
                  <a:srgbClr val="3B3B3B"/>
                </a:solidFill>
                <a:latin typeface="Consolas" panose="020B0609020204030204" pitchFamily="49" charset="0"/>
              </a:rPr>
              <a:t> 일을 명확히 하고 책임감 있게 수행했으며</a:t>
            </a:r>
            <a:r>
              <a:rPr lang="en-US" altLang="ko-KR" sz="1400" b="1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en-US" sz="1400" b="1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새로운 개발 방식과 디버깅 기법을 배우며 성장할 수 있었습니다</a:t>
            </a:r>
            <a:r>
              <a:rPr lang="en-US" altLang="ko-KR" sz="1400" b="1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</a:p>
          <a:p>
            <a:endParaRPr lang="en-US" altLang="ko-KR" sz="1400" b="1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400" b="1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이번 경험을 통해 다음 프로젝트에서는 더 완성도 높은 결과물을 만들 수 있을 것이라 생각합니다</a:t>
            </a:r>
            <a:r>
              <a:rPr lang="en-US" altLang="ko-KR" sz="1400" b="1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</a:p>
          <a:p>
            <a:endParaRPr lang="en-US" altLang="ko-KR" sz="1400" b="1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9512300" y="4737100"/>
            <a:ext cx="3060700" cy="1003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4499"/>
              </a:lnSpc>
            </a:pPr>
            <a:endParaRPr lang="en-US" sz="1600" b="1" i="0" u="none" strike="noStrike" dirty="0">
              <a:solidFill>
                <a:srgbClr val="2C2C2C"/>
              </a:solidFill>
              <a:latin typeface="Pretendard Regular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3398500" y="4178300"/>
            <a:ext cx="3149600" cy="156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ctr">
              <a:lnSpc>
                <a:spcPct val="124499"/>
              </a:lnSpc>
            </a:pPr>
            <a:r>
              <a:rPr lang="ko-KR" altLang="en-US" sz="1400" b="1" dirty="0">
                <a:solidFill>
                  <a:schemeClr val="bg1"/>
                </a:solidFill>
              </a:rPr>
              <a:t>기존에는 회사에서 제공된 프로그램만 사용했지만</a:t>
            </a:r>
            <a:r>
              <a:rPr lang="en-US" altLang="ko-KR" sz="1400" b="1" dirty="0">
                <a:solidFill>
                  <a:schemeClr val="bg1"/>
                </a:solidFill>
              </a:rPr>
              <a:t>, </a:t>
            </a:r>
            <a:r>
              <a:rPr lang="ko-KR" altLang="en-US" sz="1400" b="1" dirty="0">
                <a:solidFill>
                  <a:schemeClr val="bg1"/>
                </a:solidFill>
              </a:rPr>
              <a:t>이번 프로젝트를 통해 처음으로 직접 프로그램을 만들면서 </a:t>
            </a:r>
            <a:r>
              <a:rPr lang="en-US" altLang="ko-KR" sz="1400" b="1" dirty="0">
                <a:solidFill>
                  <a:schemeClr val="bg1"/>
                </a:solidFill>
              </a:rPr>
              <a:t>AI</a:t>
            </a:r>
            <a:r>
              <a:rPr lang="ko-KR" altLang="en-US" sz="1400" b="1" dirty="0">
                <a:solidFill>
                  <a:schemeClr val="bg1"/>
                </a:solidFill>
              </a:rPr>
              <a:t>를 활용해 업무 효율을 높이고 새로운 지식을 쌓을 수 있었다</a:t>
            </a:r>
            <a:r>
              <a:rPr lang="en-US" altLang="ko-KR" sz="1400" b="1" dirty="0">
                <a:solidFill>
                  <a:schemeClr val="bg1"/>
                </a:solidFill>
              </a:rPr>
              <a:t>.</a:t>
            </a:r>
            <a:endParaRPr lang="en-US" sz="1400" b="1" i="0" u="none" strike="noStrike" dirty="0">
              <a:solidFill>
                <a:schemeClr val="bg1"/>
              </a:solidFill>
              <a:latin typeface="Pretendard Regular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9601200" y="3962400"/>
            <a:ext cx="2971800" cy="393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endParaRPr lang="en-US" sz="2200" b="0" i="0" u="none" strike="noStrike" dirty="0">
              <a:solidFill>
                <a:srgbClr val="00074E"/>
              </a:solidFill>
              <a:latin typeface="Pretendard SemiBold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76200" y="1073150"/>
            <a:ext cx="5562600" cy="977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5500" dirty="0">
                <a:solidFill>
                  <a:srgbClr val="00074E"/>
                </a:solidFill>
                <a:ea typeface="Pretendard SemiBold"/>
              </a:rPr>
              <a:t>느낀 점</a:t>
            </a:r>
            <a:endParaRPr lang="ko-KR" sz="5500" b="0" i="0" u="none" strike="noStrike" dirty="0">
              <a:solidFill>
                <a:srgbClr val="00074E"/>
              </a:solidFill>
              <a:ea typeface="Pretendard SemiBold"/>
            </a:endParaRPr>
          </a:p>
        </p:txBody>
      </p: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D4CFC3A3-AFCC-4C5E-8324-7A79FAD50CDA}"/>
              </a:ext>
            </a:extLst>
          </p:cNvPr>
          <p:cNvCxnSpPr/>
          <p:nvPr/>
        </p:nvCxnSpPr>
        <p:spPr>
          <a:xfrm>
            <a:off x="1498600" y="2171700"/>
            <a:ext cx="15290800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21">
            <a:extLst>
              <a:ext uri="{FF2B5EF4-FFF2-40B4-BE49-F238E27FC236}">
                <a16:creationId xmlns:a16="http://schemas.microsoft.com/office/drawing/2014/main" id="{B038428F-CBAF-402B-B388-0371F06F0757}"/>
              </a:ext>
            </a:extLst>
          </p:cNvPr>
          <p:cNvSpPr txBox="1"/>
          <p:nvPr/>
        </p:nvSpPr>
        <p:spPr>
          <a:xfrm>
            <a:off x="9537700" y="4826000"/>
            <a:ext cx="3149600" cy="1003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4499"/>
              </a:lnSpc>
            </a:pPr>
            <a:r>
              <a:rPr lang="ko-KR" altLang="en-US" sz="1400" b="1" dirty="0"/>
              <a:t>학교에서 여러 프로젝트를 진행해왔지만</a:t>
            </a:r>
            <a:r>
              <a:rPr lang="en-US" altLang="ko-KR" sz="1400" b="1" dirty="0"/>
              <a:t>, </a:t>
            </a:r>
            <a:r>
              <a:rPr lang="ko-KR" altLang="en-US" sz="1400" b="1" dirty="0"/>
              <a:t>이번에는 처음으로 개발자의 역할을 직접 수행해볼 수 있었으며</a:t>
            </a:r>
            <a:r>
              <a:rPr lang="en-US" altLang="ko-KR" sz="1400" b="1" dirty="0"/>
              <a:t> </a:t>
            </a:r>
            <a:r>
              <a:rPr lang="ko-KR" altLang="en-US" sz="1400" b="1" dirty="0"/>
              <a:t>개발 과정에서 주의해야 할 점과 올바른 방향성을 팀원 선배들이 많이 알려주셔서</a:t>
            </a:r>
            <a:r>
              <a:rPr lang="en-US" altLang="ko-KR" sz="1400" b="1" dirty="0"/>
              <a:t>, </a:t>
            </a:r>
            <a:r>
              <a:rPr lang="ko-KR" altLang="en-US" sz="1400" b="1" dirty="0"/>
              <a:t>앞으로 개발자로서 가져야 할 기본 자세를 잘 배울 수 있었던 뜻깊은 경험이었다</a:t>
            </a:r>
            <a:r>
              <a:rPr lang="en-US" altLang="ko-KR" sz="2000" b="1" dirty="0"/>
              <a:t>.</a:t>
            </a:r>
            <a:br>
              <a:rPr lang="en-US" altLang="ko-KR" sz="1600" b="1" i="0" u="none" strike="noStrike" dirty="0">
                <a:solidFill>
                  <a:srgbClr val="2C2C2C"/>
                </a:solidFill>
                <a:latin typeface="Pretendard Regular"/>
              </a:rPr>
            </a:br>
            <a:endParaRPr lang="en-US" altLang="ko-KR" sz="1600" b="1" i="0" u="none" strike="noStrike" dirty="0">
              <a:solidFill>
                <a:srgbClr val="2C2C2C"/>
              </a:solidFill>
              <a:latin typeface="Pretendard Regular"/>
            </a:endParaRPr>
          </a:p>
        </p:txBody>
      </p:sp>
    </p:spTree>
    <p:extLst>
      <p:ext uri="{BB962C8B-B14F-4D97-AF65-F5344CB8AC3E}">
        <p14:creationId xmlns:p14="http://schemas.microsoft.com/office/powerpoint/2010/main" val="27475609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938</TotalTime>
  <Words>232</Words>
  <Application>Microsoft Office PowerPoint</Application>
  <PresentationFormat>사용자 지정</PresentationFormat>
  <Paragraphs>21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8" baseType="lpstr">
      <vt:lpstr>맑은 고딕</vt:lpstr>
      <vt:lpstr>Consolas</vt:lpstr>
      <vt:lpstr>Pretendard Regular</vt:lpstr>
      <vt:lpstr>Arial</vt:lpstr>
      <vt:lpstr>Pretendard SemiBold</vt:lpstr>
      <vt:lpstr>Pretendard Medium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admin</dc:creator>
  <cp:lastModifiedBy>성우 서</cp:lastModifiedBy>
  <cp:revision>62</cp:revision>
  <dcterms:created xsi:type="dcterms:W3CDTF">2006-08-16T00:00:00Z</dcterms:created>
  <dcterms:modified xsi:type="dcterms:W3CDTF">2025-10-15T08:32:11Z</dcterms:modified>
</cp:coreProperties>
</file>