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69" d="100"/>
          <a:sy n="69" d="100"/>
        </p:scale>
        <p:origin x="96" y="21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371DF2C-0BEC-47D3-AB9D-9204F918652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4F0A4776-96BF-454C-A00E-DBA5F946F0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51FD908-0A2B-4AFF-BC40-A478E27EEA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28480-A6BF-4432-9465-086198FEAC8B}" type="datetimeFigureOut">
              <a:rPr lang="ko-KR" altLang="en-US" smtClean="0"/>
              <a:t>2025-10-17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25DF18D-293D-48C0-8992-EE251C2818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704EA7D-D205-4322-AC0B-B622BADDD1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D887C-47CE-4D3F-8E78-4C9AB711AE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12160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375845-6033-402D-A110-9B768CE492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EA116B7-904E-47AA-8855-D4F9C90747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74F3F10E-FEE4-4F61-BDBA-790EBEFB2C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28480-A6BF-4432-9465-086198FEAC8B}" type="datetimeFigureOut">
              <a:rPr lang="ko-KR" altLang="en-US" smtClean="0"/>
              <a:t>2025-10-17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CAF3ADD-49DA-4222-B303-076F095DA5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5FB3C0B-0321-4F4B-93BF-89041AF8AB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D887C-47CE-4D3F-8E78-4C9AB711AE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35343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63D529-72C1-473D-93FE-3581304B88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F8F53F3A-A388-4FB6-91CD-0CA3BCD020E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C8A6A3C-FF1A-4296-8F34-7C9F573F3A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28480-A6BF-4432-9465-086198FEAC8B}" type="datetimeFigureOut">
              <a:rPr lang="ko-KR" altLang="en-US" smtClean="0"/>
              <a:t>2025-10-17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91D4606-EACC-4BAE-950C-D9EE6CCDA7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312CF00-48F1-4741-9975-77B08D8458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D887C-47CE-4D3F-8E78-4C9AB711AE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37819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DBCB372-7055-4682-AD20-675243EF5CE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0BA0A91D-121C-4643-9DBF-2B81969E2E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7877B4E-C623-4417-9D3B-066EFDEB49A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ADC329B4-5E1E-4F67-8231-2C934D79A6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28480-A6BF-4432-9465-086198FEAC8B}" type="datetimeFigureOut">
              <a:rPr lang="ko-KR" altLang="en-US" smtClean="0"/>
              <a:t>2025-10-17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C3FAC40-A599-4B58-870D-44BF8E16B1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775B1A87-4B5D-4C4A-8DD8-E123D3D740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D887C-47CE-4D3F-8E78-4C9AB711AE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59299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6D67D3-4E5B-4306-A134-EFEAABB6C6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2A53D9AF-553A-4795-92CF-EFF4132DA94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DC34B9FD-6E28-484C-AE2D-7BFAD11893D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EB617551-5D72-41E7-92FB-EA4A141285F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91EAF9BF-1670-48F0-B748-B849577F69D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0569FE1D-DF0D-4334-B852-E4C02BE3B3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28480-A6BF-4432-9465-086198FEAC8B}" type="datetimeFigureOut">
              <a:rPr lang="ko-KR" altLang="en-US" smtClean="0"/>
              <a:t>2025-10-17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F1B458E0-B9B9-43A0-ACF6-43756C27B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8FAC0BD0-038C-41C4-8CFC-410C8D06C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D887C-47CE-4D3F-8E78-4C9AB711AE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168097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066FBFB-7099-4E26-880D-50C0F6F882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E809005E-B9A5-417D-8820-6C25DED0B1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28480-A6BF-4432-9465-086198FEAC8B}" type="datetimeFigureOut">
              <a:rPr lang="ko-KR" altLang="en-US" smtClean="0"/>
              <a:t>2025-10-17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79AB129D-2377-43EF-975B-834F00E0F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275DB4E0-9657-4095-B4F6-683FA5F19E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D887C-47CE-4D3F-8E78-4C9AB711AE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91085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1DFDA864-EF91-41BF-B6A2-DFF744A2C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28480-A6BF-4432-9465-086198FEAC8B}" type="datetimeFigureOut">
              <a:rPr lang="ko-KR" altLang="en-US" smtClean="0"/>
              <a:t>2025-10-17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511D3B72-E767-4BAC-9581-0AF7F68FEA7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8235B6B-EA9D-44A9-87CD-02AE3CAA70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D887C-47CE-4D3F-8E78-4C9AB711AE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81009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86D9760-76BB-48EE-B3A6-578C1EFB98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0A04D31-1AF6-4E90-AFD9-2BEF9B58E8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0A0115C-4659-4F42-896D-B38969F1A0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9B6BE9A8-21D3-4206-B3EA-1991E31448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28480-A6BF-4432-9465-086198FEAC8B}" type="datetimeFigureOut">
              <a:rPr lang="ko-KR" altLang="en-US" smtClean="0"/>
              <a:t>2025-10-17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6AFA7E24-295A-4628-8B3F-2A309A687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30E513B-605A-4258-B682-86EBFDEC62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D887C-47CE-4D3F-8E78-4C9AB711AE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8163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9F8CDA7-F55D-424C-AF90-13450DA0BC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DE4A5756-474D-4467-8CFF-8F48622BED8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31A3BDBD-0C9A-4175-962F-2473C4B74D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45EA576B-8FA5-4E12-8476-AED16B4892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28480-A6BF-4432-9465-086198FEAC8B}" type="datetimeFigureOut">
              <a:rPr lang="ko-KR" altLang="en-US" smtClean="0"/>
              <a:t>2025-10-17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F61C7F73-F0BF-4DA2-A054-47BE7D9357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AB492E7-8213-482B-9FDB-309CBD4A3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D887C-47CE-4D3F-8E78-4C9AB711AE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934512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1CFDBC2-4FB7-4D7C-9886-CA52A0CC39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48E9BDED-AE88-4B09-B477-45A6759910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C563E5F-31F4-433E-B318-013AA57FCD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28480-A6BF-4432-9465-086198FEAC8B}" type="datetimeFigureOut">
              <a:rPr lang="ko-KR" altLang="en-US" smtClean="0"/>
              <a:t>2025-10-17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38CE8E94-A40D-4FB4-8514-19D5720A71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8E68A8F2-C586-4C23-9473-934670E866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D887C-47CE-4D3F-8E78-4C9AB711AE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131689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BBF384A5-CFE5-4EDF-AD77-5E0E02B860D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22F6AAF5-E39C-42EB-BF23-50E563CFDB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CD5BE259-0EEF-4274-8876-6018BE2BFF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B28480-A6BF-4432-9465-086198FEAC8B}" type="datetimeFigureOut">
              <a:rPr lang="ko-KR" altLang="en-US" smtClean="0"/>
              <a:t>2025-10-17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691F0B0B-3525-4588-86DB-BFEDA238FB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2BD2ADBC-5AB0-4C6F-BA15-81FF37A4F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3D887C-47CE-4D3F-8E78-4C9AB711AE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169187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0BA4EFD-1324-49C2-86AB-FB561E491E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AE6639D-FABF-482D-BC56-A32CFC4C9B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0B831CBB-EBC8-4CED-94EA-C80245D907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CB28480-A6BF-4432-9465-086198FEAC8B}" type="datetimeFigureOut">
              <a:rPr lang="ko-KR" altLang="en-US" smtClean="0"/>
              <a:t>2025-10-17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AC85E468-FCA4-4050-A9FB-ADA03C827E4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7884ADF-3387-4BC6-8411-7A5AA0E509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93D887C-47CE-4D3F-8E78-4C9AB711AE9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351320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A117F6A1-20B1-4DAD-9B0F-D83B4D2DEC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328" y="175907"/>
            <a:ext cx="7335274" cy="3445833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EBB3DB5B-C263-45ED-9838-E62656408E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1328" y="3941531"/>
            <a:ext cx="4991797" cy="202910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CFA2B13-3095-46FF-8A16-04E903078CA8}"/>
              </a:ext>
            </a:extLst>
          </p:cNvPr>
          <p:cNvSpPr txBox="1"/>
          <p:nvPr/>
        </p:nvSpPr>
        <p:spPr>
          <a:xfrm>
            <a:off x="7575176" y="175907"/>
            <a:ext cx="446549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b="1" dirty="0"/>
              <a:t>1.Spring Data JPA</a:t>
            </a:r>
            <a:r>
              <a:rPr lang="ko-KR" altLang="en-US" sz="1000" b="1" dirty="0"/>
              <a:t>의 </a:t>
            </a:r>
            <a:r>
              <a:rPr lang="en-US" altLang="ko-KR" sz="1000" b="1" dirty="0"/>
              <a:t>Specification </a:t>
            </a:r>
            <a:r>
              <a:rPr lang="ko-KR" altLang="en-US" sz="1000" b="1" dirty="0"/>
              <a:t>패턴</a:t>
            </a:r>
            <a:r>
              <a:rPr lang="ko-KR" altLang="en-US" sz="1000" dirty="0"/>
              <a:t>을 활용하여</a:t>
            </a:r>
            <a:br>
              <a:rPr lang="ko-KR" altLang="en-US" sz="1000" dirty="0"/>
            </a:br>
            <a:r>
              <a:rPr lang="ko-KR" altLang="en-US" sz="1000" dirty="0"/>
              <a:t>조건 기반 동적 검색 </a:t>
            </a:r>
            <a:r>
              <a:rPr lang="en-US" altLang="ko-KR" sz="1000" dirty="0"/>
              <a:t>API</a:t>
            </a:r>
            <a:r>
              <a:rPr lang="ko-KR" altLang="en-US" sz="1000" dirty="0"/>
              <a:t>를 구현</a:t>
            </a:r>
            <a:r>
              <a:rPr lang="en-US" altLang="ko-KR" sz="1000" dirty="0"/>
              <a:t>.</a:t>
            </a:r>
            <a:br>
              <a:rPr lang="en-US" altLang="ko-KR" sz="1000" dirty="0"/>
            </a:br>
            <a:r>
              <a:rPr lang="ko-KR" altLang="en-US" sz="1000" dirty="0"/>
              <a:t>이를 통해 코드의 </a:t>
            </a:r>
            <a:r>
              <a:rPr lang="ko-KR" altLang="en-US" sz="1000" b="1" dirty="0"/>
              <a:t>가독성과 확장성</a:t>
            </a:r>
            <a:r>
              <a:rPr lang="ko-KR" altLang="en-US" sz="1000" dirty="0"/>
              <a:t>을 높이고</a:t>
            </a:r>
            <a:r>
              <a:rPr lang="en-US" altLang="ko-KR" sz="1000" dirty="0"/>
              <a:t>,</a:t>
            </a:r>
            <a:br>
              <a:rPr lang="en-US" altLang="ko-KR" sz="1000" dirty="0"/>
            </a:br>
            <a:r>
              <a:rPr lang="ko-KR" altLang="en-US" sz="1000" dirty="0"/>
              <a:t>다양한 조회 조건을 조합할 수 있는 구조를 설계</a:t>
            </a:r>
            <a:r>
              <a:rPr lang="en-US" altLang="ko-KR" sz="1000" dirty="0"/>
              <a:t>.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8204911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그림 10">
            <a:extLst>
              <a:ext uri="{FF2B5EF4-FFF2-40B4-BE49-F238E27FC236}">
                <a16:creationId xmlns:a16="http://schemas.microsoft.com/office/drawing/2014/main" id="{87D60528-3524-479A-B2DA-38F41DD13B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760" y="860267"/>
            <a:ext cx="6449325" cy="924054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432A998-93F8-468F-9AEE-0E225CA7A64B}"/>
              </a:ext>
            </a:extLst>
          </p:cNvPr>
          <p:cNvSpPr txBox="1"/>
          <p:nvPr/>
        </p:nvSpPr>
        <p:spPr>
          <a:xfrm>
            <a:off x="477760" y="2343835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2.</a:t>
            </a:r>
            <a:r>
              <a:rPr lang="ko-KR" altLang="en-US" dirty="0"/>
              <a:t>중복 생산지시 방지를 위한 </a:t>
            </a:r>
            <a:r>
              <a:rPr lang="ko-KR" altLang="en-US" dirty="0" err="1"/>
              <a:t>멱등성</a:t>
            </a:r>
            <a:r>
              <a:rPr lang="ko-KR" altLang="en-US" dirty="0"/>
              <a:t> 체크 로직 구현으로 데이터 무결성 확보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7518446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6A92CEC-BB13-4A39-A148-B71B97C27E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976" y="817103"/>
            <a:ext cx="7849695" cy="3467584"/>
          </a:xfrm>
          <a:prstGeom prst="rect">
            <a:avLst/>
          </a:prstGeom>
        </p:spPr>
      </p:pic>
      <p:sp>
        <p:nvSpPr>
          <p:cNvPr id="4" name="타원 3">
            <a:extLst>
              <a:ext uri="{FF2B5EF4-FFF2-40B4-BE49-F238E27FC236}">
                <a16:creationId xmlns:a16="http://schemas.microsoft.com/office/drawing/2014/main" id="{873B1B06-787D-4FF3-BC99-248988ACC157}"/>
              </a:ext>
            </a:extLst>
          </p:cNvPr>
          <p:cNvSpPr/>
          <p:nvPr/>
        </p:nvSpPr>
        <p:spPr>
          <a:xfrm>
            <a:off x="259976" y="1004047"/>
            <a:ext cx="1497106" cy="53788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D9B48C3-CE17-403B-92F6-F2E5221B9CF2}"/>
              </a:ext>
            </a:extLst>
          </p:cNvPr>
          <p:cNvSpPr txBox="1"/>
          <p:nvPr/>
        </p:nvSpPr>
        <p:spPr>
          <a:xfrm>
            <a:off x="259976" y="4653388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3.1Transactional: </a:t>
            </a:r>
            <a:r>
              <a:rPr lang="ko-KR" altLang="en-US" dirty="0"/>
              <a:t>“모든 비즈니스 로직 단위를 트랜잭션으로 감싸 데이터 일관성과 무결성을 보장</a:t>
            </a:r>
          </a:p>
        </p:txBody>
      </p:sp>
      <p:sp>
        <p:nvSpPr>
          <p:cNvPr id="7" name="타원 6">
            <a:extLst>
              <a:ext uri="{FF2B5EF4-FFF2-40B4-BE49-F238E27FC236}">
                <a16:creationId xmlns:a16="http://schemas.microsoft.com/office/drawing/2014/main" id="{16DCFBF9-012B-49D7-A4FB-CADC45C8BC3A}"/>
              </a:ext>
            </a:extLst>
          </p:cNvPr>
          <p:cNvSpPr/>
          <p:nvPr/>
        </p:nvSpPr>
        <p:spPr>
          <a:xfrm>
            <a:off x="627529" y="2925662"/>
            <a:ext cx="1497106" cy="53788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C758EE9-EB5D-4F08-B745-A1EC1FF840BC}"/>
              </a:ext>
            </a:extLst>
          </p:cNvPr>
          <p:cNvSpPr txBox="1"/>
          <p:nvPr/>
        </p:nvSpPr>
        <p:spPr>
          <a:xfrm>
            <a:off x="259976" y="5853953"/>
            <a:ext cx="819374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3.2</a:t>
            </a:r>
          </a:p>
          <a:p>
            <a:r>
              <a:rPr lang="en-US" altLang="ko-KR" dirty="0"/>
              <a:t>1.P → R → C </a:t>
            </a:r>
            <a:r>
              <a:rPr lang="ko-KR" altLang="en-US" dirty="0"/>
              <a:t>순서로만 상태 전이 허용</a:t>
            </a:r>
            <a:r>
              <a:rPr lang="en-US" altLang="ko-KR" dirty="0"/>
              <a:t>.(planned</a:t>
            </a:r>
            <a:r>
              <a:rPr lang="ko-KR" altLang="en-US" dirty="0"/>
              <a:t> </a:t>
            </a:r>
            <a:r>
              <a:rPr lang="en-US" altLang="ko-KR" dirty="0"/>
              <a:t>-&gt; running -&gt; completed</a:t>
            </a:r>
          </a:p>
          <a:p>
            <a:r>
              <a:rPr lang="en-US" altLang="ko-KR" dirty="0"/>
              <a:t>2.</a:t>
            </a:r>
            <a:r>
              <a:rPr lang="ko-KR" altLang="en-US" dirty="0"/>
              <a:t>업무 규칙 기반의 상태 전이 로직으로 </a:t>
            </a:r>
            <a:r>
              <a:rPr lang="en-US" altLang="ko-KR" dirty="0"/>
              <a:t>MES </a:t>
            </a:r>
            <a:r>
              <a:rPr lang="ko-KR" altLang="en-US" dirty="0"/>
              <a:t>도메인 무결성을 보장</a:t>
            </a:r>
          </a:p>
        </p:txBody>
      </p:sp>
    </p:spTree>
    <p:extLst>
      <p:ext uri="{BB962C8B-B14F-4D97-AF65-F5344CB8AC3E}">
        <p14:creationId xmlns:p14="http://schemas.microsoft.com/office/powerpoint/2010/main" val="84265672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26EDB49-3088-4C64-ACC7-CC40E39742A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1588" y="503914"/>
            <a:ext cx="4658375" cy="1000265"/>
          </a:xfrm>
          <a:prstGeom prst="rect">
            <a:avLst/>
          </a:prstGeom>
        </p:spPr>
      </p:pic>
      <p:sp>
        <p:nvSpPr>
          <p:cNvPr id="4" name="타원 3">
            <a:extLst>
              <a:ext uri="{FF2B5EF4-FFF2-40B4-BE49-F238E27FC236}">
                <a16:creationId xmlns:a16="http://schemas.microsoft.com/office/drawing/2014/main" id="{911781C8-C576-4AD8-B41F-2C55BF17676A}"/>
              </a:ext>
            </a:extLst>
          </p:cNvPr>
          <p:cNvSpPr/>
          <p:nvPr/>
        </p:nvSpPr>
        <p:spPr>
          <a:xfrm>
            <a:off x="797857" y="735105"/>
            <a:ext cx="4016189" cy="537882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4DDF986-8282-41BF-A074-ED2041768B5B}"/>
              </a:ext>
            </a:extLst>
          </p:cNvPr>
          <p:cNvSpPr txBox="1"/>
          <p:nvPr/>
        </p:nvSpPr>
        <p:spPr>
          <a:xfrm>
            <a:off x="521587" y="1735370"/>
            <a:ext cx="846104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4.UUID </a:t>
            </a:r>
            <a:r>
              <a:rPr lang="ko-KR" altLang="en-US" dirty="0"/>
              <a:t>기반 글로벌 식별 체계로 분산 환경에서도 일관성 있는 데이터 관리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8807729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A3B7044-3B67-4EC4-A3E9-3CFBA1A447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0436" y="326416"/>
            <a:ext cx="8078327" cy="337232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DD5FA26-B175-4EA2-BE2A-6BEC60BF1241}"/>
              </a:ext>
            </a:extLst>
          </p:cNvPr>
          <p:cNvSpPr txBox="1"/>
          <p:nvPr/>
        </p:nvSpPr>
        <p:spPr>
          <a:xfrm>
            <a:off x="380436" y="4048035"/>
            <a:ext cx="1026067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b="1" dirty="0"/>
              <a:t>성능 최적화 </a:t>
            </a:r>
            <a:r>
              <a:rPr lang="en-US" altLang="ko-KR" b="1" dirty="0"/>
              <a:t>(N+1 </a:t>
            </a:r>
            <a:r>
              <a:rPr lang="ko-KR" altLang="en-US" b="1" dirty="0"/>
              <a:t>문제 해결</a:t>
            </a:r>
            <a:r>
              <a:rPr lang="en-US" altLang="ko-KR" b="1" dirty="0"/>
              <a:t>)</a:t>
            </a:r>
          </a:p>
          <a:p>
            <a:r>
              <a:rPr lang="ko-KR" altLang="en-US" dirty="0"/>
              <a:t>가장 중요하고 발표할 만한 특징은 </a:t>
            </a:r>
            <a:r>
              <a:rPr lang="en-US" altLang="ko-KR" dirty="0"/>
              <a:t>JPA</a:t>
            </a:r>
            <a:r>
              <a:rPr lang="ko-KR" altLang="en-US" dirty="0"/>
              <a:t>의 </a:t>
            </a:r>
            <a:r>
              <a:rPr lang="en-US" altLang="ko-KR" b="1" dirty="0"/>
              <a:t>N+1 </a:t>
            </a:r>
            <a:r>
              <a:rPr lang="ko-KR" altLang="en-US" b="1" dirty="0"/>
              <a:t>쿼리 문제</a:t>
            </a:r>
            <a:r>
              <a:rPr lang="ko-KR" altLang="en-US" dirty="0"/>
              <a:t>를 적극적으로 해결하고 있다는 점입니다</a:t>
            </a:r>
            <a:r>
              <a:rPr lang="en-US" altLang="ko-KR" dirty="0"/>
              <a:t>. </a:t>
            </a:r>
            <a:r>
              <a:rPr lang="ko-KR" altLang="en-US" dirty="0"/>
              <a:t>이는 </a:t>
            </a:r>
            <a:r>
              <a:rPr lang="en-US" altLang="ko-KR" dirty="0"/>
              <a:t>JPA </a:t>
            </a:r>
            <a:r>
              <a:rPr lang="ko-KR" altLang="en-US" dirty="0"/>
              <a:t>사용 시 </a:t>
            </a:r>
            <a:r>
              <a:rPr lang="ko-KR" altLang="en-US" b="1" dirty="0"/>
              <a:t>성능 최적화</a:t>
            </a:r>
            <a:r>
              <a:rPr lang="ko-KR" altLang="en-US" dirty="0"/>
              <a:t>에 신경 썼다는 것</a:t>
            </a:r>
          </a:p>
        </p:txBody>
      </p:sp>
    </p:spTree>
    <p:extLst>
      <p:ext uri="{BB962C8B-B14F-4D97-AF65-F5344CB8AC3E}">
        <p14:creationId xmlns:p14="http://schemas.microsoft.com/office/powerpoint/2010/main" val="195099553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3F88E9B1-0CA2-4DF6-BE5B-4FA597BF1B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8208" y="316228"/>
            <a:ext cx="2305372" cy="828791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B961950-CBA4-4C3F-9541-82400E2D434B}"/>
              </a:ext>
            </a:extLst>
          </p:cNvPr>
          <p:cNvSpPr txBox="1"/>
          <p:nvPr/>
        </p:nvSpPr>
        <p:spPr>
          <a:xfrm>
            <a:off x="3074893" y="595717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6.1 </a:t>
            </a:r>
            <a:r>
              <a:rPr lang="ko-KR" altLang="en-US" dirty="0" err="1"/>
              <a:t>Lombok</a:t>
            </a:r>
            <a:r>
              <a:rPr lang="ko-KR" altLang="en-US" dirty="0"/>
              <a:t> : 보일러 플레이트 코드를 줄이고 의존성 주입(DI)을 간결하게 처리합니다.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1661A4-83C9-4D8F-A5F0-6BDEDF1AE1A2}"/>
              </a:ext>
            </a:extLst>
          </p:cNvPr>
          <p:cNvSpPr txBox="1"/>
          <p:nvPr/>
        </p:nvSpPr>
        <p:spPr>
          <a:xfrm>
            <a:off x="5656728" y="2388222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6.2Java Record </a:t>
            </a:r>
            <a:r>
              <a:rPr lang="ko-KR" altLang="en-US" dirty="0"/>
              <a:t>기반 요청 </a:t>
            </a:r>
            <a:r>
              <a:rPr lang="en-US" altLang="ko-KR" dirty="0"/>
              <a:t>DTO </a:t>
            </a:r>
            <a:r>
              <a:rPr lang="ko-KR" altLang="en-US" dirty="0"/>
              <a:t>정의 </a:t>
            </a:r>
            <a:r>
              <a:rPr lang="en-US" altLang="ko-KR" dirty="0"/>
              <a:t>(</a:t>
            </a:r>
            <a:r>
              <a:rPr lang="ko-KR" altLang="en-US" dirty="0"/>
              <a:t>최신 자바에서만 가능</a:t>
            </a:r>
            <a:r>
              <a:rPr lang="en-US" altLang="ko-KR" dirty="0"/>
              <a:t>)</a:t>
            </a:r>
            <a:endParaRPr lang="ko-KR" altLang="en-US" dirty="0"/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2D8FDC01-6C69-481E-875E-AEDB1D5D0D3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053" y="1958078"/>
            <a:ext cx="5201376" cy="2152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2305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DABDDD30-0E6B-43EB-8580-4F30509396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483" y="206732"/>
            <a:ext cx="8221222" cy="423921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B83F8FEB-0BD6-43D1-AC38-968ADDECD1C1}"/>
              </a:ext>
            </a:extLst>
          </p:cNvPr>
          <p:cNvSpPr txBox="1"/>
          <p:nvPr/>
        </p:nvSpPr>
        <p:spPr>
          <a:xfrm>
            <a:off x="412375" y="4859342"/>
            <a:ext cx="813995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dirty="0"/>
              <a:t>7.JWT </a:t>
            </a:r>
            <a:r>
              <a:rPr lang="ko-KR" altLang="en-US" dirty="0"/>
              <a:t>기반 인증 필터를 구현하여 세션리스</a:t>
            </a:r>
            <a:r>
              <a:rPr lang="en-US" altLang="ko-KR" dirty="0"/>
              <a:t>(stateless) </a:t>
            </a:r>
            <a:r>
              <a:rPr lang="ko-KR" altLang="en-US" dirty="0"/>
              <a:t>구조로</a:t>
            </a:r>
            <a:br>
              <a:rPr lang="ko-KR" altLang="en-US" dirty="0"/>
            </a:br>
            <a:r>
              <a:rPr lang="ko-KR" altLang="en-US" dirty="0"/>
              <a:t>사용자 인증을 처리하고</a:t>
            </a:r>
            <a:r>
              <a:rPr lang="en-US" altLang="ko-KR" dirty="0"/>
              <a:t>, </a:t>
            </a:r>
            <a:r>
              <a:rPr lang="ko-KR" altLang="en-US" dirty="0"/>
              <a:t>역할</a:t>
            </a:r>
            <a:r>
              <a:rPr lang="en-US" altLang="ko-KR" dirty="0"/>
              <a:t>(Role) </a:t>
            </a:r>
            <a:r>
              <a:rPr lang="ko-KR" altLang="en-US" dirty="0"/>
              <a:t>정보를 </a:t>
            </a:r>
            <a:r>
              <a:rPr lang="en-US" altLang="ko-KR" dirty="0"/>
              <a:t>Security Context</a:t>
            </a:r>
            <a:r>
              <a:rPr lang="ko-KR" altLang="en-US" dirty="0"/>
              <a:t>에 주입했습니다</a:t>
            </a:r>
            <a:r>
              <a:rPr lang="en-US" altLang="ko-KR" dirty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744922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ACA6552D-EE1D-4237-9D7F-F934123330A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893" y="122885"/>
            <a:ext cx="6973273" cy="6735115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9067390-2B68-4B01-B850-C3DA925ACF77}"/>
              </a:ext>
            </a:extLst>
          </p:cNvPr>
          <p:cNvSpPr txBox="1"/>
          <p:nvPr/>
        </p:nvSpPr>
        <p:spPr>
          <a:xfrm>
            <a:off x="7162166" y="291824"/>
            <a:ext cx="5226424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dirty="0" err="1"/>
              <a:t>SpEL</a:t>
            </a:r>
            <a:r>
              <a:rPr lang="ko-KR" altLang="en-US" dirty="0"/>
              <a:t>(@permChecker.has(...))로 </a:t>
            </a:r>
            <a:r>
              <a:rPr lang="ko-KR" altLang="en-US" dirty="0" err="1"/>
              <a:t>Controller</a:t>
            </a:r>
            <a:r>
              <a:rPr lang="ko-KR" altLang="en-US" dirty="0"/>
              <a:t> 단 @PreAuthorize와 연동</a:t>
            </a:r>
          </a:p>
          <a:p>
            <a:endParaRPr lang="ko-KR" altLang="en-US" dirty="0"/>
          </a:p>
          <a:p>
            <a:r>
              <a:rPr lang="ko-KR" altLang="en-US" dirty="0" err="1"/>
              <a:t>Path</a:t>
            </a:r>
            <a:r>
              <a:rPr lang="ko-KR" altLang="en-US" dirty="0"/>
              <a:t> + </a:t>
            </a:r>
            <a:r>
              <a:rPr lang="ko-KR" altLang="en-US" dirty="0" err="1"/>
              <a:t>Action</a:t>
            </a:r>
            <a:r>
              <a:rPr lang="ko-KR" altLang="en-US" dirty="0"/>
              <a:t>(</a:t>
            </a:r>
            <a:r>
              <a:rPr lang="ko-KR" altLang="en-US" dirty="0" err="1"/>
              <a:t>read</a:t>
            </a:r>
            <a:r>
              <a:rPr lang="ko-KR" altLang="en-US" dirty="0"/>
              <a:t>/</a:t>
            </a:r>
            <a:r>
              <a:rPr lang="ko-KR" altLang="en-US" dirty="0" err="1"/>
              <a:t>write</a:t>
            </a:r>
            <a:r>
              <a:rPr lang="ko-KR" altLang="en-US" dirty="0"/>
              <a:t>/</a:t>
            </a:r>
            <a:r>
              <a:rPr lang="ko-KR" altLang="en-US" dirty="0" err="1"/>
              <a:t>exec</a:t>
            </a:r>
            <a:r>
              <a:rPr lang="ko-KR" altLang="en-US" dirty="0"/>
              <a:t>) 단위로 접근 제어 가능</a:t>
            </a:r>
          </a:p>
        </p:txBody>
      </p:sp>
    </p:spTree>
    <p:extLst>
      <p:ext uri="{BB962C8B-B14F-4D97-AF65-F5344CB8AC3E}">
        <p14:creationId xmlns:p14="http://schemas.microsoft.com/office/powerpoint/2010/main" val="370205478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그림 6">
            <a:extLst>
              <a:ext uri="{FF2B5EF4-FFF2-40B4-BE49-F238E27FC236}">
                <a16:creationId xmlns:a16="http://schemas.microsoft.com/office/drawing/2014/main" id="{33EA6265-197E-42F0-9044-BEFD675FBE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965" y="359720"/>
            <a:ext cx="10088070" cy="60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136183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</TotalTime>
  <Words>223</Words>
  <Application>Microsoft Office PowerPoint</Application>
  <PresentationFormat>와이드스크린</PresentationFormat>
  <Paragraphs>15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SangUk Lee</dc:creator>
  <cp:lastModifiedBy>금정산2-PC19</cp:lastModifiedBy>
  <cp:revision>9</cp:revision>
  <dcterms:created xsi:type="dcterms:W3CDTF">2025-10-17T02:49:47Z</dcterms:created>
  <dcterms:modified xsi:type="dcterms:W3CDTF">2025-10-17T06:35:44Z</dcterms:modified>
</cp:coreProperties>
</file>